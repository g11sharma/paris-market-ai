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Other stocks</c:v>
                </c:pt>
              </c:strCache>
            </c:strRef>
          </c:tx>
          <c:spPr>
            <a:ln w="47625">
              <a:noFill/>
            </a:ln>
          </c:spPr>
          <c:marker>
            <c:symbol val="circle"/>
            <c:size val="7"/>
            <c:spPr>
              <a:solidFill>
                <a:srgbClr val="A9B4BC"/>
              </a:solidFill>
              <a:ln>
                <a:noFill/>
              </a:ln>
            </c:spPr>
          </c:marker>
          <c:xVal>
            <c:numRef>
              <c:f>Sheet1!$A$2:$A$116</c:f>
              <c:numCache>
                <c:formatCode>General</c:formatCode>
                <c:ptCount val="115"/>
                <c:pt idx="0">
                  <c:v>0.8367936087165913</c:v>
                </c:pt>
                <c:pt idx="1">
                  <c:v>0.28905874527317177</c:v>
                </c:pt>
                <c:pt idx="2">
                  <c:v>0.21127514300714217</c:v>
                </c:pt>
                <c:pt idx="3">
                  <c:v>0.3280365912987174</c:v>
                </c:pt>
                <c:pt idx="4">
                  <c:v>0.5065539936085404</c:v>
                </c:pt>
                <c:pt idx="5">
                  <c:v>0.17780665974028623</c:v>
                </c:pt>
                <c:pt idx="6">
                  <c:v>0.2923525882796527</c:v>
                </c:pt>
                <c:pt idx="7">
                  <c:v>0.3307635688765898</c:v>
                </c:pt>
                <c:pt idx="8">
                  <c:v>1.0150260490964738</c:v>
                </c:pt>
                <c:pt idx="9">
                  <c:v>0.7988498412801638</c:v>
                </c:pt>
                <c:pt idx="10">
                  <c:v>0.21375858852025406</c:v>
                </c:pt>
                <c:pt idx="11">
                  <c:v>0.42145114221827423</c:v>
                </c:pt>
                <c:pt idx="12">
                  <c:v>0.29852857889735546</c:v>
                </c:pt>
                <c:pt idx="13">
                  <c:v>0.466624182106057</c:v>
                </c:pt>
                <c:pt idx="14">
                  <c:v>0.5190010090424679</c:v>
                </c:pt>
                <c:pt idx="15">
                  <c:v>0.3013347144160373</c:v>
                </c:pt>
                <c:pt idx="16">
                  <c:v>0.2205296253719042</c:v>
                </c:pt>
                <c:pt idx="17">
                  <c:v>0.30201798571605765</c:v>
                </c:pt>
                <c:pt idx="18">
                  <c:v>0.23353055685410276</c:v>
                </c:pt>
                <c:pt idx="19">
                  <c:v>0.2147589308705356</c:v>
                </c:pt>
                <c:pt idx="20">
                  <c:v>0.2343937797711086</c:v>
                </c:pt>
                <c:pt idx="21">
                  <c:v>0.3955181152417415</c:v>
                </c:pt>
                <c:pt idx="22">
                  <c:v>0.17324259568126077</c:v>
                </c:pt>
                <c:pt idx="23">
                  <c:v>0.33102044205097064</c:v>
                </c:pt>
                <c:pt idx="24">
                  <c:v>0.37001287198268645</c:v>
                </c:pt>
                <c:pt idx="25">
                  <c:v>0.19061818622308338</c:v>
                </c:pt>
                <c:pt idx="26">
                  <c:v>0.21653515605859888</c:v>
                </c:pt>
                <c:pt idx="27">
                  <c:v>0.3493292247075924</c:v>
                </c:pt>
                <c:pt idx="28">
                  <c:v>0.6764528449082046</c:v>
                </c:pt>
                <c:pt idx="29">
                  <c:v>0.2369406832402738</c:v>
                </c:pt>
                <c:pt idx="30">
                  <c:v>0.40132961913775406</c:v>
                </c:pt>
                <c:pt idx="31">
                  <c:v>0.4135786252928966</c:v>
                </c:pt>
                <c:pt idx="32">
                  <c:v>0.46735452016350326</c:v>
                </c:pt>
                <c:pt idx="33">
                  <c:v>0.31547569139380416</c:v>
                </c:pt>
                <c:pt idx="34">
                  <c:v>0.23402731369546803</c:v>
                </c:pt>
                <c:pt idx="35">
                  <c:v>0.4355178288655726</c:v>
                </c:pt>
                <c:pt idx="36">
                  <c:v>0.22529443027490345</c:v>
                </c:pt>
                <c:pt idx="37">
                  <c:v>0.2216324307189238</c:v>
                </c:pt>
                <c:pt idx="38">
                  <c:v>0.2188891676685386</c:v>
                </c:pt>
                <c:pt idx="39">
                  <c:v>0.27478697468719154</c:v>
                </c:pt>
                <c:pt idx="40">
                  <c:v>0.6926954513557748</c:v>
                </c:pt>
                <c:pt idx="41">
                  <c:v>0.6018136204486008</c:v>
                </c:pt>
                <c:pt idx="42">
                  <c:v>0.46759008667643176</c:v>
                </c:pt>
                <c:pt idx="43">
                  <c:v>0.21028470616417377</c:v>
                </c:pt>
                <c:pt idx="44">
                  <c:v>0.2403568783179763</c:v>
                </c:pt>
                <c:pt idx="45">
                  <c:v>0.3750089551238258</c:v>
                </c:pt>
                <c:pt idx="46">
                  <c:v>0.4847573904211281</c:v>
                </c:pt>
                <c:pt idx="47">
                  <c:v>0.4686089992124425</c:v>
                </c:pt>
                <c:pt idx="48">
                  <c:v>0.17888774069783508</c:v>
                </c:pt>
                <c:pt idx="49">
                  <c:v>0.3495242549906235</c:v>
                </c:pt>
                <c:pt idx="50">
                  <c:v>0.6010519375666358</c:v>
                </c:pt>
                <c:pt idx="51">
                  <c:v>0.30334365830923943</c:v>
                </c:pt>
                <c:pt idx="52">
                  <c:v>0.22078130247468702</c:v>
                </c:pt>
                <c:pt idx="53">
                  <c:v>0.27133508429215153</c:v>
                </c:pt>
                <c:pt idx="54">
                  <c:v>0.299531462624932</c:v>
                </c:pt>
                <c:pt idx="55">
                  <c:v>0.3792943540597393</c:v>
                </c:pt>
                <c:pt idx="56">
                  <c:v>0.3162567490020785</c:v>
                </c:pt>
                <c:pt idx="57">
                  <c:v>0.637902147116073</c:v>
                </c:pt>
                <c:pt idx="58">
                  <c:v>0.4253240468480195</c:v>
                </c:pt>
                <c:pt idx="59">
                  <c:v>0.16359692529279982</c:v>
                </c:pt>
                <c:pt idx="60">
                  <c:v>0.3200857687867318</c:v>
                </c:pt>
                <c:pt idx="61">
                  <c:v>0.4264179346470674</c:v>
                </c:pt>
                <c:pt idx="62">
                  <c:v>0.29946731627432355</c:v>
                </c:pt>
                <c:pt idx="63">
                  <c:v>0.5494742219254763</c:v>
                </c:pt>
                <c:pt idx="64">
                  <c:v>0.1837874328561585</c:v>
                </c:pt>
                <c:pt idx="65">
                  <c:v>0.2295561079304956</c:v>
                </c:pt>
                <c:pt idx="66">
                  <c:v>0.2159866326741144</c:v>
                </c:pt>
                <c:pt idx="67">
                  <c:v>0.44789305098223414</c:v>
                </c:pt>
                <c:pt idx="68">
                  <c:v>0.5847045530028556</c:v>
                </c:pt>
                <c:pt idx="69">
                  <c:v>0.8129555951788987</c:v>
                </c:pt>
                <c:pt idx="70">
                  <c:v>0.3676966461518112</c:v>
                </c:pt>
                <c:pt idx="71">
                  <c:v>0.31819824634692734</c:v>
                </c:pt>
                <c:pt idx="72">
                  <c:v>0.4031011047328244</c:v>
                </c:pt>
                <c:pt idx="73">
                  <c:v>0.2160230627106562</c:v>
                </c:pt>
                <c:pt idx="74">
                  <c:v>0.3386836566944865</c:v>
                </c:pt>
                <c:pt idx="75">
                  <c:v>0.25302606447623577</c:v>
                </c:pt>
                <c:pt idx="76">
                  <c:v>0.24306996988809762</c:v>
                </c:pt>
                <c:pt idx="77">
                  <c:v>0.6548610903758435</c:v>
                </c:pt>
                <c:pt idx="78">
                  <c:v>0.40664877157831053</c:v>
                </c:pt>
                <c:pt idx="79">
                  <c:v>0.35413658824860034</c:v>
                </c:pt>
                <c:pt idx="80">
                  <c:v>0.2840358931317095</c:v>
                </c:pt>
                <c:pt idx="81">
                  <c:v>0.36933538969041113</c:v>
                </c:pt>
                <c:pt idx="82">
                  <c:v>0.2865869886552004</c:v>
                </c:pt>
                <c:pt idx="83">
                  <c:v>0.2980931383980903</c:v>
                </c:pt>
                <c:pt idx="84">
                  <c:v>0.32970801262857286</c:v>
                </c:pt>
                <c:pt idx="85">
                  <c:v>0.3223948017768581</c:v>
                </c:pt>
                <c:pt idx="86">
                  <c:v>0.2898667492601557</c:v>
                </c:pt>
                <c:pt idx="87">
                  <c:v>0.33034553771698655</c:v>
                </c:pt>
                <c:pt idx="88">
                  <c:v>0.2217981037675945</c:v>
                </c:pt>
                <c:pt idx="89">
                  <c:v>0.2449995257508552</c:v>
                </c:pt>
                <c:pt idx="90">
                  <c:v>0.49271129083882914</c:v>
                </c:pt>
                <c:pt idx="91">
                  <c:v>0.3025212778567993</c:v>
                </c:pt>
                <c:pt idx="92">
                  <c:v>0.3726934044998276</c:v>
                </c:pt>
                <c:pt idx="93">
                  <c:v>1.0531350399639372</c:v>
                </c:pt>
                <c:pt idx="94">
                  <c:v>0.4364258319872249</c:v>
                </c:pt>
                <c:pt idx="95">
                  <c:v>0.2595703803283027</c:v>
                </c:pt>
                <c:pt idx="96">
                  <c:v>0.4977567073360845</c:v>
                </c:pt>
                <c:pt idx="97">
                  <c:v>0.5493446645681915</c:v>
                </c:pt>
                <c:pt idx="98">
                  <c:v>0.33285822296628576</c:v>
                </c:pt>
                <c:pt idx="99">
                  <c:v>0.28274814292425493</c:v>
                </c:pt>
                <c:pt idx="100">
                  <c:v>0.34038902075976635</c:v>
                </c:pt>
                <c:pt idx="101">
                  <c:v>0.47546791087192875</c:v>
                </c:pt>
                <c:pt idx="102">
                  <c:v>0.1960135261694464</c:v>
                </c:pt>
                <c:pt idx="103">
                  <c:v>0.315457179242684</c:v>
                </c:pt>
                <c:pt idx="104">
                  <c:v>0.7178287583524711</c:v>
                </c:pt>
                <c:pt idx="105">
                  <c:v>0.17811110351677079</c:v>
                </c:pt>
                <c:pt idx="106">
                  <c:v>0.34144543350354123</c:v>
                </c:pt>
                <c:pt idx="107">
                  <c:v>0.19056423062884698</c:v>
                </c:pt>
                <c:pt idx="108">
                  <c:v>0.6839971027082568</c:v>
                </c:pt>
                <c:pt idx="109">
                  <c:v>0.24975356646214325</c:v>
                </c:pt>
                <c:pt idx="110">
                  <c:v>0.39799318860454513</c:v>
                </c:pt>
                <c:pt idx="111">
                  <c:v>0.35011072485884864</c:v>
                </c:pt>
                <c:pt idx="112">
                  <c:v>0.5338750737285305</c:v>
                </c:pt>
                <c:pt idx="113">
                  <c:v>0.7721540180891386</c:v>
                </c:pt>
                <c:pt idx="114">
                  <c:v>0.7379186336705148</c:v>
                </c:pt>
              </c:numCache>
            </c:numRef>
          </c:xVal>
          <c:yVal>
            <c:numRef>
              <c:f>Sheet1!$B$2:$B$116</c:f>
              <c:numCache>
                <c:formatCode>General</c:formatCode>
                <c:ptCount val="115"/>
                <c:pt idx="0">
                  <c:v>0.13599452252844535</c:v>
                </c:pt>
                <c:pt idx="1">
                  <c:v>0.1397176023711013</c:v>
                </c:pt>
                <c:pt idx="2">
                  <c:v>0.10892685285140113</c:v>
                </c:pt>
                <c:pt idx="3">
                  <c:v>0.008317337715718187</c:v>
                </c:pt>
                <c:pt idx="4">
                  <c:v>0.00303028976918851</c:v>
                </c:pt>
                <c:pt idx="5">
                  <c:v>0.1225278627622377</c:v>
                </c:pt>
                <c:pt idx="6">
                  <c:v>-0.0468716979767716</c:v>
                </c:pt>
                <c:pt idx="7">
                  <c:v>0.09654704296322292</c:v>
                </c:pt>
                <c:pt idx="8">
                  <c:v>0.9376811160532479</c:v>
                </c:pt>
                <c:pt idx="9">
                  <c:v>-0.46901784571609917</c:v>
                </c:pt>
                <c:pt idx="10">
                  <c:v>0.18450043231695723</c:v>
                </c:pt>
                <c:pt idx="11">
                  <c:v>-0.32428826113435993</c:v>
                </c:pt>
                <c:pt idx="12">
                  <c:v>0.0366526192979717</c:v>
                </c:pt>
                <c:pt idx="13">
                  <c:v>0.1738309027975311</c:v>
                </c:pt>
                <c:pt idx="14">
                  <c:v>-0.5899871967523007</c:v>
                </c:pt>
                <c:pt idx="15">
                  <c:v>0.024252525256813096</c:v>
                </c:pt>
                <c:pt idx="16">
                  <c:v>0.2985769074479232</c:v>
                </c:pt>
                <c:pt idx="17">
                  <c:v>-0.3213607605465977</c:v>
                </c:pt>
                <c:pt idx="18">
                  <c:v>-0.1510293583283352</c:v>
                </c:pt>
                <c:pt idx="19">
                  <c:v>0.07759333369805099</c:v>
                </c:pt>
                <c:pt idx="20">
                  <c:v>0.02105385666679549</c:v>
                </c:pt>
                <c:pt idx="21">
                  <c:v>-0.06279281676625459</c:v>
                </c:pt>
                <c:pt idx="22">
                  <c:v>-0.0674449316511806</c:v>
                </c:pt>
                <c:pt idx="23">
                  <c:v>-0.1925277107144273</c:v>
                </c:pt>
                <c:pt idx="24">
                  <c:v>-0.2495478992864688</c:v>
                </c:pt>
                <c:pt idx="25">
                  <c:v>0.07115043553272904</c:v>
                </c:pt>
                <c:pt idx="26">
                  <c:v>-0.15326392685911527</c:v>
                </c:pt>
                <c:pt idx="27">
                  <c:v>0.4338100105585241</c:v>
                </c:pt>
                <c:pt idx="28">
                  <c:v>-0.25126216015746927</c:v>
                </c:pt>
                <c:pt idx="29">
                  <c:v>-0.03924059425350335</c:v>
                </c:pt>
                <c:pt idx="30">
                  <c:v>0.07134834501610321</c:v>
                </c:pt>
                <c:pt idx="31">
                  <c:v>-0.27749575783434055</c:v>
                </c:pt>
                <c:pt idx="32">
                  <c:v>0.39009607008212166</c:v>
                </c:pt>
                <c:pt idx="33">
                  <c:v>-0.4609627750561852</c:v>
                </c:pt>
                <c:pt idx="34">
                  <c:v>-0.0872293618448634</c:v>
                </c:pt>
                <c:pt idx="35">
                  <c:v>-0.2879213127595063</c:v>
                </c:pt>
                <c:pt idx="36">
                  <c:v>0.15773121070963825</c:v>
                </c:pt>
                <c:pt idx="37">
                  <c:v>0.29025709758744633</c:v>
                </c:pt>
                <c:pt idx="38">
                  <c:v>0.2995204887677083</c:v>
                </c:pt>
                <c:pt idx="39">
                  <c:v>0.21628606534118466</c:v>
                </c:pt>
                <c:pt idx="40">
                  <c:v>-0.5726272186127842</c:v>
                </c:pt>
                <c:pt idx="41">
                  <c:v>0.34442067762450734</c:v>
                </c:pt>
                <c:pt idx="42">
                  <c:v>0.3364575677960866</c:v>
                </c:pt>
                <c:pt idx="43">
                  <c:v>-0.19125280344758322</c:v>
                </c:pt>
                <c:pt idx="44">
                  <c:v>-0.01152628351122087</c:v>
                </c:pt>
                <c:pt idx="45">
                  <c:v>0.3545021461780078</c:v>
                </c:pt>
                <c:pt idx="46">
                  <c:v>0.4182334137481303</c:v>
                </c:pt>
                <c:pt idx="47">
                  <c:v>-0.21213768258349686</c:v>
                </c:pt>
                <c:pt idx="48">
                  <c:v>-0.2128128656215197</c:v>
                </c:pt>
                <c:pt idx="49">
                  <c:v>0.2714082303873795</c:v>
                </c:pt>
                <c:pt idx="50">
                  <c:v>1.714535863901271</c:v>
                </c:pt>
                <c:pt idx="51">
                  <c:v>-0.10789929586836655</c:v>
                </c:pt>
                <c:pt idx="52">
                  <c:v>-0.16652503673488062</c:v>
                </c:pt>
                <c:pt idx="53">
                  <c:v>-0.1992337164750958</c:v>
                </c:pt>
                <c:pt idx="54">
                  <c:v>0.22319510586573732</c:v>
                </c:pt>
                <c:pt idx="55">
                  <c:v>0.02621800215648218</c:v>
                </c:pt>
                <c:pt idx="56">
                  <c:v>0.15344017796958465</c:v>
                </c:pt>
                <c:pt idx="57">
                  <c:v>-0.361724497836834</c:v>
                </c:pt>
                <c:pt idx="58">
                  <c:v>-0.29650695672650573</c:v>
                </c:pt>
                <c:pt idx="59">
                  <c:v>0.15335052957215067</c:v>
                </c:pt>
                <c:pt idx="60">
                  <c:v>0.029140196036112398</c:v>
                </c:pt>
                <c:pt idx="61">
                  <c:v>0.6322582496528768</c:v>
                </c:pt>
                <c:pt idx="62">
                  <c:v>-0.3002009703511753</c:v>
                </c:pt>
                <c:pt idx="63">
                  <c:v>-0.15905742706533343</c:v>
                </c:pt>
                <c:pt idx="64">
                  <c:v>-0.037958204518770966</c:v>
                </c:pt>
                <c:pt idx="65">
                  <c:v>-0.023143309414438207</c:v>
                </c:pt>
                <c:pt idx="66">
                  <c:v>-0.04416954915771165</c:v>
                </c:pt>
                <c:pt idx="67">
                  <c:v>0.6902106944226374</c:v>
                </c:pt>
                <c:pt idx="68">
                  <c:v>1.3163141114555832</c:v>
                </c:pt>
                <c:pt idx="69">
                  <c:v>0.3666301074050877</c:v>
                </c:pt>
                <c:pt idx="70">
                  <c:v>0.09972787636843794</c:v>
                </c:pt>
                <c:pt idx="71">
                  <c:v>0.06960108971043333</c:v>
                </c:pt>
                <c:pt idx="72">
                  <c:v>-0.537755089628354</c:v>
                </c:pt>
                <c:pt idx="73">
                  <c:v>0.056689638945321974</c:v>
                </c:pt>
                <c:pt idx="74">
                  <c:v>-0.10150714634960678</c:v>
                </c:pt>
                <c:pt idx="75">
                  <c:v>0.010369605551635797</c:v>
                </c:pt>
                <c:pt idx="76">
                  <c:v>0.10413213753848782</c:v>
                </c:pt>
                <c:pt idx="77">
                  <c:v>0.39378678372331755</c:v>
                </c:pt>
                <c:pt idx="78">
                  <c:v>0.21293707635319659</c:v>
                </c:pt>
                <c:pt idx="79">
                  <c:v>-0.05644100328032586</c:v>
                </c:pt>
                <c:pt idx="80">
                  <c:v>0.20460484632350018</c:v>
                </c:pt>
                <c:pt idx="81">
                  <c:v>-0.07536529029027572</c:v>
                </c:pt>
                <c:pt idx="82">
                  <c:v>-0.19368668583513016</c:v>
                </c:pt>
                <c:pt idx="83">
                  <c:v>-0.25202721715008136</c:v>
                </c:pt>
                <c:pt idx="84">
                  <c:v>-0.3767612567985722</c:v>
                </c:pt>
                <c:pt idx="85">
                  <c:v>-0.24119208953033222</c:v>
                </c:pt>
                <c:pt idx="86">
                  <c:v>0.28766950420175563</c:v>
                </c:pt>
                <c:pt idx="87">
                  <c:v>0.12566442484839424</c:v>
                </c:pt>
                <c:pt idx="88">
                  <c:v>-0.11497224190421318</c:v>
                </c:pt>
                <c:pt idx="89">
                  <c:v>0.09145259749749868</c:v>
                </c:pt>
                <c:pt idx="90">
                  <c:v>-0.2939293521275993</c:v>
                </c:pt>
                <c:pt idx="91">
                  <c:v>-0.23763906230508236</c:v>
                </c:pt>
                <c:pt idx="92">
                  <c:v>0.09260548260459633</c:v>
                </c:pt>
                <c:pt idx="93">
                  <c:v>2.8448155335957046</c:v>
                </c:pt>
                <c:pt idx="94">
                  <c:v>0.18718795687144407</c:v>
                </c:pt>
                <c:pt idx="95">
                  <c:v>-0.06841748880392262</c:v>
                </c:pt>
                <c:pt idx="96">
                  <c:v>-0.5717769332354179</c:v>
                </c:pt>
                <c:pt idx="97">
                  <c:v>1.0123541826297893</c:v>
                </c:pt>
                <c:pt idx="98">
                  <c:v>0.23971876238812473</c:v>
                </c:pt>
                <c:pt idx="99">
                  <c:v>0.07116105723087918</c:v>
                </c:pt>
                <c:pt idx="100">
                  <c:v>-0.2770758955024256</c:v>
                </c:pt>
                <c:pt idx="101">
                  <c:v>0.1759975329761394</c:v>
                </c:pt>
                <c:pt idx="102">
                  <c:v>-0.2034826587358456</c:v>
                </c:pt>
                <c:pt idx="103">
                  <c:v>-0.1252863725552642</c:v>
                </c:pt>
                <c:pt idx="104">
                  <c:v>-0.47517002982762235</c:v>
                </c:pt>
                <c:pt idx="105">
                  <c:v>0.04807289113374269</c:v>
                </c:pt>
                <c:pt idx="106">
                  <c:v>0.031587764672668106</c:v>
                </c:pt>
                <c:pt idx="107">
                  <c:v>0.12224118593787492</c:v>
                </c:pt>
                <c:pt idx="108">
                  <c:v>0.25403822965329503</c:v>
                </c:pt>
                <c:pt idx="109">
                  <c:v>-0.011606012341079941</c:v>
                </c:pt>
                <c:pt idx="110">
                  <c:v>-0.5219414961634511</c:v>
                </c:pt>
                <c:pt idx="111">
                  <c:v>0.04289469509972266</c:v>
                </c:pt>
                <c:pt idx="112">
                  <c:v>-0.4684589560957526</c:v>
                </c:pt>
                <c:pt idx="113">
                  <c:v>-0.6586550347279261</c:v>
                </c:pt>
                <c:pt idx="114">
                  <c:v>-0.017818959711915605</c:v>
                </c:pt>
              </c:numCache>
            </c:numRef>
          </c:yVal>
          <c:smooth val="0"/>
        </c:ser>
        <c:ser>
          <c:idx val="1"/>
          <c:order val="1"/>
          <c:tx>
            <c:strRef>
              <c:f>Sheet1!$B$118</c:f>
              <c:strCache>
                <c:ptCount val="1"/>
                <c:pt idx="0">
                  <c:v>Long-term top 10</c:v>
                </c:pt>
              </c:strCache>
            </c:strRef>
          </c:tx>
          <c:spPr>
            <a:ln w="47625">
              <a:noFill/>
            </a:ln>
          </c:spPr>
          <c:marker>
            <c:symbol val="circle"/>
            <c:size val="11"/>
            <c:spPr>
              <a:solidFill>
                <a:srgbClr val="D99A1E"/>
              </a:solidFill>
              <a:ln>
                <a:noFill/>
              </a:ln>
            </c:spPr>
          </c:marker>
          <c:xVal>
            <c:numRef>
              <c:f>Sheet1!$A$119:$A$128</c:f>
              <c:numCache>
                <c:formatCode>General</c:formatCode>
                <c:ptCount val="10"/>
                <c:pt idx="0">
                  <c:v>0.22944097284188653</c:v>
                </c:pt>
                <c:pt idx="1">
                  <c:v>0.28127504206405324</c:v>
                </c:pt>
                <c:pt idx="2">
                  <c:v>0.22074126730870477</c:v>
                </c:pt>
                <c:pt idx="3">
                  <c:v>0.17722124515665222</c:v>
                </c:pt>
                <c:pt idx="4">
                  <c:v>0.29123854721636655</c:v>
                </c:pt>
                <c:pt idx="5">
                  <c:v>0.15620918558433047</c:v>
                </c:pt>
                <c:pt idx="6">
                  <c:v>0.24899179392974866</c:v>
                </c:pt>
                <c:pt idx="7">
                  <c:v>0.23404395333501954</c:v>
                </c:pt>
                <c:pt idx="8">
                  <c:v>0.20449390128511388</c:v>
                </c:pt>
                <c:pt idx="9">
                  <c:v>0.22999172123405656</c:v>
                </c:pt>
              </c:numCache>
            </c:numRef>
          </c:xVal>
          <c:yVal>
            <c:numRef>
              <c:f>Sheet1!$B$119:$B$128</c:f>
              <c:numCache>
                <c:formatCode>General</c:formatCode>
                <c:ptCount val="10"/>
                <c:pt idx="0">
                  <c:v>0.3696510810358553</c:v>
                </c:pt>
                <c:pt idx="1">
                  <c:v>0.3125757356740817</c:v>
                </c:pt>
                <c:pt idx="2">
                  <c:v>0.318708520699007</c:v>
                </c:pt>
                <c:pt idx="3">
                  <c:v>0.138720626162542</c:v>
                </c:pt>
                <c:pt idx="4">
                  <c:v>0.7022282789355392</c:v>
                </c:pt>
                <c:pt idx="5">
                  <c:v>0.26532369528703126</c:v>
                </c:pt>
                <c:pt idx="6">
                  <c:v>0.3491183304431227</c:v>
                </c:pt>
                <c:pt idx="7">
                  <c:v>0.12893328339232069</c:v>
                </c:pt>
                <c:pt idx="8">
                  <c:v>0.1674292302836815</c:v>
                </c:pt>
                <c:pt idx="9">
                  <c:v>0.5348380906219645</c:v>
                </c:pt>
              </c:numCache>
            </c:numRef>
          </c:yVal>
          <c:smooth val="0"/>
        </c:ser>
        <c:axId val="-2128940872"/>
        <c:axId val="-2129643912"/>
      </c:scatterChart>
      <c:valAx>
        <c:axId val="-2128940872"/>
        <c:scaling>
          <c:orientation val="minMax"/>
        </c:scaling>
        <c:delete val="0"/>
        <c:axPos val="b"/>
        <c:majorGridlines>
          <c:spPr>
            <a:ln>
              <a:solidFill>
                <a:srgbClr val="E6EAED"/>
              </a:solidFill>
            </a:ln>
          </c:spPr>
        </c:majorGridlines>
        <c:title>
          <c:tx>
            <c:rich>
              <a:bodyPr/>
              <a:lstStyle/>
              <a:p>
                <a:r>
                  <a:rPr sz="1100"/>
                  <a:t>Volatility (yearly)</a:t>
                </a:r>
              </a:p>
            </c:rich>
          </c:tx>
          <c:layout/>
          <c:overlay val="0"/>
        </c:title>
        <c:numFmt formatCode="0%" sourceLinked="0"/>
        <c:majorTickMark val="out"/>
        <c:minorTickMark val="none"/>
        <c:tickLblPos val="low"/>
        <c:spPr>
          <a:ln>
            <a:solidFill>
              <a:srgbClr val="D5DBE0"/>
            </a:solidFill>
          </a:ln>
        </c:spPr>
        <c:txPr>
          <a:bodyPr/>
          <a:lstStyle/>
          <a:p>
            <a:pPr>
              <a:defRPr sz="1000"/>
            </a:pPr>
          </a:p>
        </c:txPr>
        <c:crossAx val="-2129643912"/>
        <c:crosses val="autoZero"/>
        <c:crossBetween val="midCat"/>
      </c:valAx>
      <c:valAx>
        <c:axId val="-2129643912"/>
        <c:scaling>
          <c:orientation val="minMax"/>
        </c:scaling>
        <c:delete val="0"/>
        <c:axPos val="l"/>
        <c:majorGridlines>
          <c:spPr>
            <a:ln>
              <a:solidFill>
                <a:srgbClr val="E6EAED"/>
              </a:solidFill>
            </a:ln>
          </c:spPr>
        </c:majorGridlines>
        <c:title>
          <c:tx>
            <c:rich>
              <a:bodyPr/>
              <a:lstStyle/>
              <a:p>
                <a:r>
                  <a:rPr sz="1100"/>
                  <a:t>1-year return</a:t>
                </a:r>
              </a:p>
            </c:rich>
          </c:tx>
          <c:layout/>
          <c:overlay val="0"/>
        </c:title>
        <c:numFmt formatCode="0%" sourceLinked="0"/>
        <c:majorTickMark val="out"/>
        <c:minorTickMark val="none"/>
        <c:tickLblPos val="low"/>
        <c:spPr>
          <a:ln>
            <a:solidFill>
              <a:srgbClr val="D5DBE0"/>
            </a:solidFill>
          </a:ln>
        </c:spPr>
        <c:txPr>
          <a:bodyPr/>
          <a:lstStyle/>
          <a:p>
            <a:pPr>
              <a:defRPr sz="1000"/>
            </a:pPr>
          </a:p>
        </c:txPr>
        <c:crossAx val="-2128940872"/>
        <c:crosses val="autoZero"/>
        <c:crossBetween val="midCat"/>
      </c:valAx>
    </c:plotArea>
    <c:legend>
      <c:legendPos val="t"/>
      <c:layout/>
      <c:overlay val="0"/>
      <c:txPr>
        <a:bodyPr/>
        <a:lstStyle/>
        <a:p>
          <a:pPr>
            <a:defRPr sz="1100"/>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2B"/>
        </a:solidFill>
        <a:effectLst/>
      </p:bgPr>
    </p:bg>
    <p:spTree>
      <p:nvGrpSpPr>
        <p:cNvPr id="1" name=""/>
        <p:cNvGrpSpPr/>
        <p:nvPr/>
      </p:nvGrpSpPr>
      <p:grpSpPr/>
      <p:sp>
        <p:nvSpPr>
          <p:cNvPr id="2" name="TextBox 1"/>
          <p:cNvSpPr txBox="1"/>
          <p:nvPr/>
        </p:nvSpPr>
        <p:spPr>
          <a:xfrm>
            <a:off x="548640" y="566928"/>
            <a:ext cx="11064240" cy="640080"/>
          </a:xfrm>
          <a:prstGeom prst="rect">
            <a:avLst/>
          </a:prstGeom>
          <a:noFill/>
        </p:spPr>
        <p:txBody>
          <a:bodyPr wrap="square" anchor="t" lIns="0" rIns="0" tIns="0" bIns="0">
            <a:spAutoFit/>
          </a:bodyPr>
          <a:lstStyle/>
          <a:p>
            <a:pPr algn="l"/>
            <a:r>
              <a:rPr sz="3000" b="1" i="0">
                <a:solidFill>
                  <a:srgbClr val="FFFFFF"/>
                </a:solidFill>
                <a:latin typeface="Cambria"/>
              </a:rPr>
              <a:t/>
            </a:r>
          </a:p>
        </p:txBody>
      </p:sp>
      <p:sp>
        <p:nvSpPr>
          <p:cNvPr id="3" name="TextBox 2"/>
          <p:cNvSpPr txBox="1"/>
          <p:nvPr/>
        </p:nvSpPr>
        <p:spPr>
          <a:xfrm>
            <a:off x="822960" y="1554480"/>
            <a:ext cx="10515600" cy="365760"/>
          </a:xfrm>
          <a:prstGeom prst="rect">
            <a:avLst/>
          </a:prstGeom>
          <a:noFill/>
        </p:spPr>
        <p:txBody>
          <a:bodyPr wrap="square" anchor="t" lIns="0" rIns="0" tIns="0" bIns="0">
            <a:spAutoFit/>
          </a:bodyPr>
          <a:lstStyle/>
          <a:p>
            <a:pPr algn="l"/>
            <a:r>
              <a:rPr sz="1400" b="1" i="0">
                <a:solidFill>
                  <a:srgbClr val="D99A1E"/>
                </a:solidFill>
                <a:latin typeface="Calibri"/>
              </a:rPr>
              <a:t>DAILY REPORT  ·  02 OCTOBER 2026</a:t>
            </a:r>
          </a:p>
        </p:txBody>
      </p:sp>
      <p:sp>
        <p:nvSpPr>
          <p:cNvPr id="4" name="TextBox 3"/>
          <p:cNvSpPr txBox="1"/>
          <p:nvPr/>
        </p:nvSpPr>
        <p:spPr>
          <a:xfrm>
            <a:off x="822960" y="2011680"/>
            <a:ext cx="10515600" cy="1280160"/>
          </a:xfrm>
          <a:prstGeom prst="rect">
            <a:avLst/>
          </a:prstGeom>
          <a:noFill/>
        </p:spPr>
        <p:txBody>
          <a:bodyPr wrap="square" anchor="t" lIns="0" rIns="0" tIns="0" bIns="0">
            <a:spAutoFit/>
          </a:bodyPr>
          <a:lstStyle/>
          <a:p>
            <a:pPr algn="l"/>
            <a:r>
              <a:rPr sz="6000" b="1" i="0">
                <a:solidFill>
                  <a:srgbClr val="FFFFFF"/>
                </a:solidFill>
                <a:latin typeface="Cambria"/>
              </a:rPr>
              <a:t>Paris Market AI</a:t>
            </a:r>
          </a:p>
        </p:txBody>
      </p:sp>
      <p:sp>
        <p:nvSpPr>
          <p:cNvPr id="5" name="TextBox 4"/>
          <p:cNvSpPr txBox="1"/>
          <p:nvPr/>
        </p:nvSpPr>
        <p:spPr>
          <a:xfrm>
            <a:off x="822960" y="3246120"/>
            <a:ext cx="9601200" cy="1097280"/>
          </a:xfrm>
          <a:prstGeom prst="rect">
            <a:avLst/>
          </a:prstGeom>
          <a:noFill/>
        </p:spPr>
        <p:txBody>
          <a:bodyPr wrap="square" anchor="t" lIns="0" rIns="0" tIns="0" bIns="0">
            <a:spAutoFit/>
          </a:bodyPr>
          <a:lstStyle/>
          <a:p>
            <a:pPr algn="l"/>
            <a:r>
              <a:rPr sz="1800" b="0" i="0">
                <a:solidFill>
                  <a:srgbClr val="C9D2D9"/>
                </a:solidFill>
                <a:latin typeface="Calibri"/>
              </a:rPr>
              <a:t>A local AI (Mistral) reads the French financial and world news, and a machine-learning model ranks the 125 most traded stocks on Euronext Paris.</a:t>
            </a:r>
          </a:p>
        </p:txBody>
      </p:sp>
      <p:sp>
        <p:nvSpPr>
          <p:cNvPr id="6" name="TextBox 5"/>
          <p:cNvSpPr txBox="1"/>
          <p:nvPr/>
        </p:nvSpPr>
        <p:spPr>
          <a:xfrm>
            <a:off x="822960" y="4572000"/>
            <a:ext cx="3017520" cy="548640"/>
          </a:xfrm>
          <a:prstGeom prst="rect">
            <a:avLst/>
          </a:prstGeom>
          <a:noFill/>
        </p:spPr>
        <p:txBody>
          <a:bodyPr wrap="square" anchor="t" lIns="0" rIns="0" tIns="0" bIns="0">
            <a:spAutoFit/>
          </a:bodyPr>
          <a:lstStyle/>
          <a:p>
            <a:pPr algn="l"/>
            <a:r>
              <a:rPr sz="2800" b="1" i="0">
                <a:solidFill>
                  <a:srgbClr val="FFFFFF"/>
                </a:solidFill>
                <a:latin typeface="Cambria"/>
              </a:rPr>
              <a:t>125</a:t>
            </a:r>
          </a:p>
        </p:txBody>
      </p:sp>
      <p:sp>
        <p:nvSpPr>
          <p:cNvPr id="7" name="TextBox 6"/>
          <p:cNvSpPr txBox="1"/>
          <p:nvPr/>
        </p:nvSpPr>
        <p:spPr>
          <a:xfrm>
            <a:off x="822960" y="5120640"/>
            <a:ext cx="3017520" cy="365760"/>
          </a:xfrm>
          <a:prstGeom prst="rect">
            <a:avLst/>
          </a:prstGeom>
          <a:noFill/>
        </p:spPr>
        <p:txBody>
          <a:bodyPr wrap="square" anchor="t" lIns="0" rIns="0" tIns="0" bIns="0">
            <a:spAutoFit/>
          </a:bodyPr>
          <a:lstStyle/>
          <a:p>
            <a:pPr algn="l"/>
            <a:r>
              <a:rPr sz="1200" b="0" i="0">
                <a:solidFill>
                  <a:srgbClr val="9AA5AE"/>
                </a:solidFill>
                <a:latin typeface="Calibri"/>
              </a:rPr>
              <a:t>liquid stocks analysed</a:t>
            </a:r>
          </a:p>
        </p:txBody>
      </p:sp>
      <p:sp>
        <p:nvSpPr>
          <p:cNvPr id="8" name="TextBox 7"/>
          <p:cNvSpPr txBox="1"/>
          <p:nvPr/>
        </p:nvSpPr>
        <p:spPr>
          <a:xfrm>
            <a:off x="4114800" y="4572000"/>
            <a:ext cx="3017520" cy="548640"/>
          </a:xfrm>
          <a:prstGeom prst="rect">
            <a:avLst/>
          </a:prstGeom>
          <a:noFill/>
        </p:spPr>
        <p:txBody>
          <a:bodyPr wrap="square" anchor="t" lIns="0" rIns="0" tIns="0" bIns="0">
            <a:spAutoFit/>
          </a:bodyPr>
          <a:lstStyle/>
          <a:p>
            <a:pPr algn="l"/>
            <a:r>
              <a:rPr sz="2800" b="1" i="0">
                <a:solidFill>
                  <a:srgbClr val="FFFFFF"/>
                </a:solidFill>
                <a:latin typeface="Cambria"/>
              </a:rPr>
              <a:t>111</a:t>
            </a:r>
          </a:p>
        </p:txBody>
      </p:sp>
      <p:sp>
        <p:nvSpPr>
          <p:cNvPr id="9" name="TextBox 8"/>
          <p:cNvSpPr txBox="1"/>
          <p:nvPr/>
        </p:nvSpPr>
        <p:spPr>
          <a:xfrm>
            <a:off x="4114800" y="5120640"/>
            <a:ext cx="3017520" cy="365760"/>
          </a:xfrm>
          <a:prstGeom prst="rect">
            <a:avLst/>
          </a:prstGeom>
          <a:noFill/>
        </p:spPr>
        <p:txBody>
          <a:bodyPr wrap="square" anchor="t" lIns="0" rIns="0" tIns="0" bIns="0">
            <a:spAutoFit/>
          </a:bodyPr>
          <a:lstStyle/>
          <a:p>
            <a:pPr algn="l"/>
            <a:r>
              <a:rPr sz="1200" b="0" i="0">
                <a:solidFill>
                  <a:srgbClr val="9AA5AE"/>
                </a:solidFill>
                <a:latin typeface="Calibri"/>
              </a:rPr>
              <a:t>companies with news read by the AI</a:t>
            </a:r>
          </a:p>
        </p:txBody>
      </p:sp>
      <p:sp>
        <p:nvSpPr>
          <p:cNvPr id="10" name="TextBox 9"/>
          <p:cNvSpPr txBox="1"/>
          <p:nvPr/>
        </p:nvSpPr>
        <p:spPr>
          <a:xfrm>
            <a:off x="7406640" y="4572000"/>
            <a:ext cx="3017520" cy="548640"/>
          </a:xfrm>
          <a:prstGeom prst="rect">
            <a:avLst/>
          </a:prstGeom>
          <a:noFill/>
        </p:spPr>
        <p:txBody>
          <a:bodyPr wrap="square" anchor="t" lIns="0" rIns="0" tIns="0" bIns="0">
            <a:spAutoFit/>
          </a:bodyPr>
          <a:lstStyle/>
          <a:p>
            <a:pPr algn="l"/>
            <a:r>
              <a:rPr sz="2800" b="1" i="0">
                <a:solidFill>
                  <a:srgbClr val="FFFFFF"/>
                </a:solidFill>
                <a:latin typeface="Cambria"/>
              </a:rPr>
              <a:t>5 days</a:t>
            </a:r>
          </a:p>
        </p:txBody>
      </p:sp>
      <p:sp>
        <p:nvSpPr>
          <p:cNvPr id="11" name="TextBox 10"/>
          <p:cNvSpPr txBox="1"/>
          <p:nvPr/>
        </p:nvSpPr>
        <p:spPr>
          <a:xfrm>
            <a:off x="7406640" y="5120640"/>
            <a:ext cx="3017520" cy="365760"/>
          </a:xfrm>
          <a:prstGeom prst="rect">
            <a:avLst/>
          </a:prstGeom>
          <a:noFill/>
        </p:spPr>
        <p:txBody>
          <a:bodyPr wrap="square" anchor="t" lIns="0" rIns="0" tIns="0" bIns="0">
            <a:spAutoFit/>
          </a:bodyPr>
          <a:lstStyle/>
          <a:p>
            <a:pPr algn="l"/>
            <a:r>
              <a:rPr sz="1200" b="0" i="0">
                <a:solidFill>
                  <a:srgbClr val="9AA5AE"/>
                </a:solidFill>
                <a:latin typeface="Calibri"/>
              </a:rPr>
              <a:t>short-term prediction horizon</a:t>
            </a:r>
          </a:p>
        </p:txBody>
      </p:sp>
      <p:sp>
        <p:nvSpPr>
          <p:cNvPr id="12" name="TextBox 11"/>
          <p:cNvSpPr txBox="1"/>
          <p:nvPr/>
        </p:nvSpPr>
        <p:spPr>
          <a:xfrm>
            <a:off x="548640" y="6400800"/>
            <a:ext cx="11064240" cy="274320"/>
          </a:xfrm>
          <a:prstGeom prst="rect">
            <a:avLst/>
          </a:prstGeom>
          <a:noFill/>
        </p:spPr>
        <p:txBody>
          <a:bodyPr wrap="square" anchor="t" lIns="0" rIns="0" tIns="0" bIns="0">
            <a:spAutoFit/>
          </a:bodyPr>
          <a:lstStyle/>
          <a:p>
            <a:pPr algn="l"/>
            <a:r>
              <a:rPr sz="900" b="0" i="0">
                <a:solidFill>
                  <a:srgbClr val="9AA5AE"/>
                </a:solidFill>
                <a:latin typeface="Calibri"/>
              </a:rPr>
              <a:t>Experimental project by Gaurav Sharma. Model output, not investment advice.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anchor="t" lIns="0" rIns="0" tIns="0" bIns="0">
            <a:spAutoFit/>
          </a:bodyPr>
          <a:lstStyle/>
          <a:p>
            <a:pPr algn="l"/>
            <a:r>
              <a:rPr sz="1100" b="1" i="0">
                <a:solidFill>
                  <a:srgbClr val="D99A1E"/>
                </a:solidFill>
                <a:latin typeface="Calibri"/>
              </a:rPr>
              <a:t>MARKET &amp; WORLD</a:t>
            </a:r>
          </a:p>
        </p:txBody>
      </p:sp>
      <p:sp>
        <p:nvSpPr>
          <p:cNvPr id="3" name="TextBox 2"/>
          <p:cNvSpPr txBox="1"/>
          <p:nvPr/>
        </p:nvSpPr>
        <p:spPr>
          <a:xfrm>
            <a:off x="548640" y="566928"/>
            <a:ext cx="11064240" cy="640080"/>
          </a:xfrm>
          <a:prstGeom prst="rect">
            <a:avLst/>
          </a:prstGeom>
          <a:noFill/>
        </p:spPr>
        <p:txBody>
          <a:bodyPr wrap="square" anchor="t" lIns="0" rIns="0" tIns="0" bIns="0">
            <a:spAutoFit/>
          </a:bodyPr>
          <a:lstStyle/>
          <a:p>
            <a:pPr algn="l"/>
            <a:r>
              <a:rPr sz="3000" b="1" i="0">
                <a:solidFill>
                  <a:srgbClr val="14212B"/>
                </a:solidFill>
                <a:latin typeface="Cambria"/>
              </a:rPr>
              <a:t>Today at a glance</a:t>
            </a:r>
          </a:p>
        </p:txBody>
      </p:sp>
      <p:sp>
        <p:nvSpPr>
          <p:cNvPr id="4" name="Rounded Rectangle 3"/>
          <p:cNvSpPr/>
          <p:nvPr/>
        </p:nvSpPr>
        <p:spPr>
          <a:xfrm>
            <a:off x="548640" y="1371600"/>
            <a:ext cx="2633472" cy="141732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2176272" cy="685800"/>
          </a:xfrm>
          <a:prstGeom prst="rect">
            <a:avLst/>
          </a:prstGeom>
          <a:noFill/>
        </p:spPr>
        <p:txBody>
          <a:bodyPr wrap="square" anchor="t" lIns="0" rIns="0" tIns="0" bIns="0">
            <a:spAutoFit/>
          </a:bodyPr>
          <a:lstStyle/>
          <a:p>
            <a:pPr algn="l"/>
            <a:r>
              <a:rPr sz="3400" b="1" i="0">
                <a:solidFill>
                  <a:srgbClr val="1E9E6A"/>
                </a:solidFill>
                <a:latin typeface="Cambria"/>
              </a:rPr>
              <a:t>+0.98%</a:t>
            </a:r>
          </a:p>
        </p:txBody>
      </p:sp>
      <p:sp>
        <p:nvSpPr>
          <p:cNvPr id="6" name="TextBox 5"/>
          <p:cNvSpPr txBox="1"/>
          <p:nvPr/>
        </p:nvSpPr>
        <p:spPr>
          <a:xfrm>
            <a:off x="777240" y="2267712"/>
            <a:ext cx="2176272" cy="457200"/>
          </a:xfrm>
          <a:prstGeom prst="rect">
            <a:avLst/>
          </a:prstGeom>
          <a:noFill/>
        </p:spPr>
        <p:txBody>
          <a:bodyPr wrap="square" anchor="t" lIns="0" rIns="0" tIns="0" bIns="0">
            <a:spAutoFit/>
          </a:bodyPr>
          <a:lstStyle/>
          <a:p>
            <a:pPr algn="l"/>
            <a:r>
              <a:rPr sz="1100" b="0" i="0">
                <a:solidFill>
                  <a:srgbClr val="5B6770"/>
                </a:solidFill>
                <a:latin typeface="Calibri"/>
              </a:rPr>
              <a:t>CAC 40 on 02 Oct (7,912 pts)</a:t>
            </a:r>
          </a:p>
        </p:txBody>
      </p:sp>
      <p:sp>
        <p:nvSpPr>
          <p:cNvPr id="7" name="Rounded Rectangle 6"/>
          <p:cNvSpPr/>
          <p:nvPr/>
        </p:nvSpPr>
        <p:spPr>
          <a:xfrm>
            <a:off x="3364992" y="1371600"/>
            <a:ext cx="2633472" cy="141732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536192"/>
            <a:ext cx="2176272" cy="685800"/>
          </a:xfrm>
          <a:prstGeom prst="rect">
            <a:avLst/>
          </a:prstGeom>
          <a:noFill/>
        </p:spPr>
        <p:txBody>
          <a:bodyPr wrap="square" anchor="t" lIns="0" rIns="0" tIns="0" bIns="0">
            <a:spAutoFit/>
          </a:bodyPr>
          <a:lstStyle/>
          <a:p>
            <a:pPr algn="l"/>
            <a:r>
              <a:rPr sz="3400" b="1" i="0">
                <a:solidFill>
                  <a:srgbClr val="C8423B"/>
                </a:solidFill>
                <a:latin typeface="Cambria"/>
              </a:rPr>
              <a:t>-4.5%</a:t>
            </a:r>
          </a:p>
        </p:txBody>
      </p:sp>
      <p:sp>
        <p:nvSpPr>
          <p:cNvPr id="9" name="TextBox 8"/>
          <p:cNvSpPr txBox="1"/>
          <p:nvPr/>
        </p:nvSpPr>
        <p:spPr>
          <a:xfrm>
            <a:off x="3593592" y="2267712"/>
            <a:ext cx="2176272" cy="457200"/>
          </a:xfrm>
          <a:prstGeom prst="rect">
            <a:avLst/>
          </a:prstGeom>
          <a:noFill/>
        </p:spPr>
        <p:txBody>
          <a:bodyPr wrap="square" anchor="t" lIns="0" rIns="0" tIns="0" bIns="0">
            <a:spAutoFit/>
          </a:bodyPr>
          <a:lstStyle/>
          <a:p>
            <a:pPr algn="l"/>
            <a:r>
              <a:rPr sz="1100" b="0" i="0">
                <a:solidFill>
                  <a:srgbClr val="5B6770"/>
                </a:solidFill>
                <a:latin typeface="Calibri"/>
              </a:rPr>
              <a:t>CAC 40 over the last month</a:t>
            </a:r>
          </a:p>
        </p:txBody>
      </p:sp>
      <p:sp>
        <p:nvSpPr>
          <p:cNvPr id="10" name="Rounded Rectangle 9"/>
          <p:cNvSpPr/>
          <p:nvPr/>
        </p:nvSpPr>
        <p:spPr>
          <a:xfrm>
            <a:off x="6181344" y="1371600"/>
            <a:ext cx="2633472" cy="141732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1536192"/>
            <a:ext cx="2176272" cy="685800"/>
          </a:xfrm>
          <a:prstGeom prst="rect">
            <a:avLst/>
          </a:prstGeom>
          <a:noFill/>
        </p:spPr>
        <p:txBody>
          <a:bodyPr wrap="square" anchor="t" lIns="0" rIns="0" tIns="0" bIns="0">
            <a:spAutoFit/>
          </a:bodyPr>
          <a:lstStyle/>
          <a:p>
            <a:pPr algn="l"/>
            <a:r>
              <a:rPr sz="3400" b="1" i="0">
                <a:solidFill>
                  <a:srgbClr val="1E9E6A"/>
                </a:solidFill>
                <a:latin typeface="Cambria"/>
              </a:rPr>
              <a:t>+0.5</a:t>
            </a:r>
          </a:p>
        </p:txBody>
      </p:sp>
      <p:sp>
        <p:nvSpPr>
          <p:cNvPr id="12" name="TextBox 11"/>
          <p:cNvSpPr txBox="1"/>
          <p:nvPr/>
        </p:nvSpPr>
        <p:spPr>
          <a:xfrm>
            <a:off x="6409944" y="2267712"/>
            <a:ext cx="2176272" cy="457200"/>
          </a:xfrm>
          <a:prstGeom prst="rect">
            <a:avLst/>
          </a:prstGeom>
          <a:noFill/>
        </p:spPr>
        <p:txBody>
          <a:bodyPr wrap="square" anchor="t" lIns="0" rIns="0" tIns="0" bIns="0">
            <a:spAutoFit/>
          </a:bodyPr>
          <a:lstStyle/>
          <a:p>
            <a:pPr algn="l"/>
            <a:r>
              <a:rPr sz="1100" b="0" i="0">
                <a:solidFill>
                  <a:srgbClr val="5B6770"/>
                </a:solidFill>
                <a:latin typeface="Calibri"/>
              </a:rPr>
              <a:t>World risk score (-1 risk-off … +1 risk-on)</a:t>
            </a:r>
          </a:p>
        </p:txBody>
      </p:sp>
      <p:sp>
        <p:nvSpPr>
          <p:cNvPr id="13" name="Rounded Rectangle 12"/>
          <p:cNvSpPr/>
          <p:nvPr/>
        </p:nvSpPr>
        <p:spPr>
          <a:xfrm>
            <a:off x="8997696" y="1371600"/>
            <a:ext cx="2633472" cy="141732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26296" y="1536192"/>
            <a:ext cx="2176272" cy="685800"/>
          </a:xfrm>
          <a:prstGeom prst="rect">
            <a:avLst/>
          </a:prstGeom>
          <a:noFill/>
        </p:spPr>
        <p:txBody>
          <a:bodyPr wrap="square" anchor="t" lIns="0" rIns="0" tIns="0" bIns="0">
            <a:spAutoFit/>
          </a:bodyPr>
          <a:lstStyle/>
          <a:p>
            <a:pPr algn="l"/>
            <a:r>
              <a:rPr sz="3400" b="1" i="0">
                <a:solidFill>
                  <a:srgbClr val="14212B"/>
                </a:solidFill>
                <a:latin typeface="Cambria"/>
              </a:rPr>
              <a:t>0.507</a:t>
            </a:r>
          </a:p>
        </p:txBody>
      </p:sp>
      <p:sp>
        <p:nvSpPr>
          <p:cNvPr id="15" name="TextBox 14"/>
          <p:cNvSpPr txBox="1"/>
          <p:nvPr/>
        </p:nvSpPr>
        <p:spPr>
          <a:xfrm>
            <a:off x="9226296" y="2267712"/>
            <a:ext cx="2176272" cy="457200"/>
          </a:xfrm>
          <a:prstGeom prst="rect">
            <a:avLst/>
          </a:prstGeom>
          <a:noFill/>
        </p:spPr>
        <p:txBody>
          <a:bodyPr wrap="square" anchor="t" lIns="0" rIns="0" tIns="0" bIns="0">
            <a:spAutoFit/>
          </a:bodyPr>
          <a:lstStyle/>
          <a:p>
            <a:pPr algn="l"/>
            <a:r>
              <a:rPr sz="1100" b="0" i="0">
                <a:solidFill>
                  <a:srgbClr val="5B6770"/>
                </a:solidFill>
                <a:latin typeface="Calibri"/>
              </a:rPr>
              <a:t>Model skill (AUC, 0.500 = coin flip)</a:t>
            </a:r>
          </a:p>
        </p:txBody>
      </p:sp>
      <p:sp>
        <p:nvSpPr>
          <p:cNvPr id="16" name="TextBox 15"/>
          <p:cNvSpPr txBox="1"/>
          <p:nvPr/>
        </p:nvSpPr>
        <p:spPr>
          <a:xfrm>
            <a:off x="548640" y="3108960"/>
            <a:ext cx="6675120" cy="365760"/>
          </a:xfrm>
          <a:prstGeom prst="rect">
            <a:avLst/>
          </a:prstGeom>
          <a:noFill/>
        </p:spPr>
        <p:txBody>
          <a:bodyPr wrap="square" anchor="t" lIns="0" rIns="0" tIns="0" bIns="0">
            <a:spAutoFit/>
          </a:bodyPr>
          <a:lstStyle/>
          <a:p>
            <a:pPr algn="l"/>
            <a:r>
              <a:rPr sz="1800" b="1" i="0">
                <a:solidFill>
                  <a:srgbClr val="14212B"/>
                </a:solidFill>
                <a:latin typeface="Cambria"/>
              </a:rPr>
              <a:t>What is happening in the world</a:t>
            </a:r>
          </a:p>
        </p:txBody>
      </p:sp>
      <p:sp>
        <p:nvSpPr>
          <p:cNvPr id="17" name="TextBox 16"/>
          <p:cNvSpPr txBox="1"/>
          <p:nvPr/>
        </p:nvSpPr>
        <p:spPr>
          <a:xfrm>
            <a:off x="548640" y="3566160"/>
            <a:ext cx="6675120" cy="2651760"/>
          </a:xfrm>
          <a:prstGeom prst="rect">
            <a:avLst/>
          </a:prstGeom>
          <a:noFill/>
        </p:spPr>
        <p:txBody>
          <a:bodyPr wrap="square" anchor="t" lIns="0" rIns="0" tIns="0" bIns="0">
            <a:spAutoFit/>
          </a:bodyPr>
          <a:lstStyle/>
          <a:p>
            <a:pPr algn="l"/>
            <a:r>
              <a:rPr sz="1400" b="0" i="0">
                <a:solidFill>
                  <a:srgbClr val="14212B"/>
                </a:solidFill>
                <a:latin typeface="Calibri"/>
              </a:rPr>
              <a:t>Geopolitical tensions in the Middle East and Ukraine pose a risk to European and French stock markets due to potential economic disruptions and increased uncertainty. Central banks are under pressure to raise interest rates due to inflation concerns, which could slow economic growth. The energy sector may be affected by rising oil prices, while trade disputes between the US and other countries could impact various sectors.</a:t>
            </a:r>
          </a:p>
        </p:txBody>
      </p:sp>
      <p:sp>
        <p:nvSpPr>
          <p:cNvPr id="18" name="Rounded Rectangle 17"/>
          <p:cNvSpPr/>
          <p:nvPr/>
        </p:nvSpPr>
        <p:spPr>
          <a:xfrm>
            <a:off x="7680960" y="3108960"/>
            <a:ext cx="3959352" cy="237744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291840"/>
            <a:ext cx="3566160" cy="2103120"/>
          </a:xfrm>
          <a:prstGeom prst="rect">
            <a:avLst/>
          </a:prstGeom>
          <a:noFill/>
        </p:spPr>
        <p:txBody>
          <a:bodyPr wrap="square" anchor="t" lIns="0" rIns="0" tIns="0" bIns="0">
            <a:spAutoFit/>
          </a:bodyPr>
          <a:lstStyle/>
          <a:p>
            <a:pPr algn="l">
              <a:spcAft>
                <a:spcPts val="600"/>
              </a:spcAft>
            </a:pPr>
            <a:r>
              <a:rPr sz="1500" b="1" i="0">
                <a:solidFill>
                  <a:srgbClr val="14212B"/>
                </a:solidFill>
                <a:latin typeface="Cambria"/>
              </a:rPr>
              <a:t>How to read this report</a:t>
            </a:r>
          </a:p>
          <a:p>
            <a:pPr algn="l">
              <a:spcAft>
                <a:spcPts val="600"/>
              </a:spcAft>
            </a:pPr>
            <a:r>
              <a:rPr sz="1200" b="0" i="0">
                <a:solidFill>
                  <a:srgbClr val="14212B"/>
                </a:solidFill>
                <a:latin typeface="Calibri"/>
              </a:rPr>
              <a:t>Short term: the model's 5-day ranking vs the CAC 40.</a:t>
            </a:r>
          </a:p>
          <a:p>
            <a:pPr algn="l">
              <a:spcAft>
                <a:spcPts val="600"/>
              </a:spcAft>
            </a:pPr>
            <a:r>
              <a:rPr sz="1200" b="0" i="0">
                <a:solidFill>
                  <a:srgbClr val="14212B"/>
                </a:solidFill>
                <a:latin typeface="Calibri"/>
              </a:rPr>
              <a:t>Long term: steady 1-year trend, small drawdowns, fair valuation, dividends.</a:t>
            </a:r>
          </a:p>
          <a:p>
            <a:pPr algn="l">
              <a:spcAft>
                <a:spcPts val="600"/>
              </a:spcAft>
            </a:pPr>
            <a:r>
              <a:rPr sz="1200" b="0" i="0">
                <a:solidFill>
                  <a:srgbClr val="14212B"/>
                </a:solidFill>
                <a:latin typeface="Calibri"/>
              </a:rPr>
              <a:t>Risk profiles: lists split by volatility and beta.</a:t>
            </a:r>
          </a:p>
          <a:p>
            <a:pPr algn="l"/>
            <a:r>
              <a:rPr sz="1200" b="0" i="1">
                <a:solidFill>
                  <a:srgbClr val="5B6770"/>
                </a:solidFill>
                <a:latin typeface="Calibri"/>
              </a:rPr>
              <a:t>These are rankings from an experimental model, not advice.</a:t>
            </a:r>
          </a:p>
        </p:txBody>
      </p:sp>
      <p:sp>
        <p:nvSpPr>
          <p:cNvPr id="20" name="TextBox 19"/>
          <p:cNvSpPr txBox="1"/>
          <p:nvPr/>
        </p:nvSpPr>
        <p:spPr>
          <a:xfrm>
            <a:off x="548640" y="6400800"/>
            <a:ext cx="11064240" cy="274320"/>
          </a:xfrm>
          <a:prstGeom prst="rect">
            <a:avLst/>
          </a:prstGeom>
          <a:noFill/>
        </p:spPr>
        <p:txBody>
          <a:bodyPr wrap="square" anchor="t" lIns="0" rIns="0" tIns="0" bIns="0">
            <a:spAutoFit/>
          </a:bodyPr>
          <a:lstStyle/>
          <a:p>
            <a:pPr algn="l"/>
            <a:r>
              <a:rPr sz="900" b="0" i="0">
                <a:solidFill>
                  <a:srgbClr val="5B6770"/>
                </a:solidFill>
                <a:latin typeface="Calibri"/>
              </a:rPr>
              <a:t>Prices: Yahoo Finance (latest close). World news: Google News France, analysed by Mistral running locally.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anchor="t" lIns="0" rIns="0" tIns="0" bIns="0">
            <a:spAutoFit/>
          </a:bodyPr>
          <a:lstStyle/>
          <a:p>
            <a:pPr algn="l"/>
            <a:r>
              <a:rPr sz="1100" b="1" i="0">
                <a:solidFill>
                  <a:srgbClr val="D99A1E"/>
                </a:solidFill>
                <a:latin typeface="Calibri"/>
              </a:rPr>
              <a:t>WARS, RATES, ENERGY, TRADE</a:t>
            </a:r>
          </a:p>
        </p:txBody>
      </p:sp>
      <p:sp>
        <p:nvSpPr>
          <p:cNvPr id="3" name="TextBox 2"/>
          <p:cNvSpPr txBox="1"/>
          <p:nvPr/>
        </p:nvSpPr>
        <p:spPr>
          <a:xfrm>
            <a:off x="548640" y="566928"/>
            <a:ext cx="11064240" cy="640080"/>
          </a:xfrm>
          <a:prstGeom prst="rect">
            <a:avLst/>
          </a:prstGeom>
          <a:noFill/>
        </p:spPr>
        <p:txBody>
          <a:bodyPr wrap="square" anchor="t" lIns="0" rIns="0" tIns="0" bIns="0">
            <a:spAutoFit/>
          </a:bodyPr>
          <a:lstStyle/>
          <a:p>
            <a:pPr algn="l"/>
            <a:r>
              <a:rPr sz="3000" b="1" i="0">
                <a:solidFill>
                  <a:srgbClr val="14212B"/>
                </a:solidFill>
                <a:latin typeface="Cambria"/>
              </a:rPr>
              <a:t>World context and sector impact</a:t>
            </a:r>
          </a:p>
        </p:txBody>
      </p:sp>
      <p:sp>
        <p:nvSpPr>
          <p:cNvPr id="4" name="TextBox 3"/>
          <p:cNvSpPr txBox="1"/>
          <p:nvPr/>
        </p:nvSpPr>
        <p:spPr>
          <a:xfrm>
            <a:off x="548640" y="1371600"/>
            <a:ext cx="6766560" cy="4846320"/>
          </a:xfrm>
          <a:prstGeom prst="rect">
            <a:avLst/>
          </a:prstGeom>
          <a:noFill/>
        </p:spPr>
        <p:txBody>
          <a:bodyPr wrap="square" anchor="t" lIns="0" rIns="0" tIns="0" bIns="0">
            <a:spAutoFit/>
          </a:bodyPr>
          <a:lstStyle/>
          <a:p>
            <a:pPr algn="l">
              <a:spcAft>
                <a:spcPts val="600"/>
              </a:spcAft>
            </a:pPr>
            <a:r>
              <a:rPr sz="1300" b="1" i="0">
                <a:solidFill>
                  <a:srgbClr val="14212B"/>
                </a:solidFill>
                <a:latin typeface="Calibri"/>
              </a:rPr>
              <a:t>Geopolitics: </a:t>
            </a:r>
            <a:r>
              <a:rPr sz="1300" b="0" i="0">
                <a:solidFill>
                  <a:srgbClr val="14212B"/>
                </a:solidFill>
                <a:latin typeface="Calibri"/>
              </a:rPr>
              <a:t>Increased geopolitical tensions in the Middle East and Ukraine could lead to economic disruptions and increased uncertainty, potentially negatively impacting European and French stock markets.</a:t>
            </a:r>
          </a:p>
          <a:p>
            <a:pPr algn="l">
              <a:spcAft>
                <a:spcPts val="600"/>
              </a:spcAft>
            </a:pPr>
            <a:r>
              <a:rPr sz="1300" b="1" i="0">
                <a:solidFill>
                  <a:srgbClr val="14212B"/>
                </a:solidFill>
                <a:latin typeface="Calibri"/>
              </a:rPr>
              <a:t>Central Banks &amp; Rates: </a:t>
            </a:r>
            <a:r>
              <a:rPr sz="1300" b="0" i="0">
                <a:solidFill>
                  <a:srgbClr val="14212B"/>
                </a:solidFill>
                <a:latin typeface="Calibri"/>
              </a:rPr>
              <a:t>Inflation concerns are leading central banks, including the ECB, to consider raising interest rates, which could slow economic growth.</a:t>
            </a:r>
          </a:p>
          <a:p>
            <a:pPr algn="l">
              <a:spcAft>
                <a:spcPts val="600"/>
              </a:spcAft>
            </a:pPr>
            <a:r>
              <a:rPr sz="1300" b="1" i="0">
                <a:solidFill>
                  <a:srgbClr val="14212B"/>
                </a:solidFill>
                <a:latin typeface="Calibri"/>
              </a:rPr>
              <a:t>Inflation &amp; Growth: </a:t>
            </a:r>
            <a:r>
              <a:rPr sz="1300" b="0" i="0">
                <a:solidFill>
                  <a:srgbClr val="14212B"/>
                </a:solidFill>
                <a:latin typeface="Calibri"/>
              </a:rPr>
              <a:t>Inflation is on the rise in the Eurozone, putting pressure on the ECB and potentially slowing economic growth.</a:t>
            </a:r>
          </a:p>
          <a:p>
            <a:pPr algn="l">
              <a:spcAft>
                <a:spcPts val="600"/>
              </a:spcAft>
            </a:pPr>
            <a:r>
              <a:rPr sz="1300" b="1" i="0">
                <a:solidFill>
                  <a:srgbClr val="14212B"/>
                </a:solidFill>
                <a:latin typeface="Calibri"/>
              </a:rPr>
              <a:t>Oil &amp; Energy: </a:t>
            </a:r>
            <a:r>
              <a:rPr sz="1300" b="0" i="0">
                <a:solidFill>
                  <a:srgbClr val="14212B"/>
                </a:solidFill>
                <a:latin typeface="Calibri"/>
              </a:rPr>
              <a:t>Rising oil prices could affect the energy sector, potentially leading to increased costs for consumers and businesses.</a:t>
            </a:r>
          </a:p>
          <a:p>
            <a:pPr algn="l"/>
            <a:r>
              <a:rPr sz="1300" b="1" i="0">
                <a:solidFill>
                  <a:srgbClr val="14212B"/>
                </a:solidFill>
                <a:latin typeface="Calibri"/>
              </a:rPr>
              <a:t>Trade &amp; Tariffs: </a:t>
            </a:r>
            <a:r>
              <a:rPr sz="1300" b="0" i="0">
                <a:solidFill>
                  <a:srgbClr val="14212B"/>
                </a:solidFill>
                <a:latin typeface="Calibri"/>
              </a:rPr>
              <a:t>Ongoing trade disputes between the US and other countries, such as the US and Canada, could impact various sectors.</a:t>
            </a:r>
          </a:p>
        </p:txBody>
      </p:sp>
      <p:sp>
        <p:nvSpPr>
          <p:cNvPr id="5" name="Rounded Rectangle 4"/>
          <p:cNvSpPr/>
          <p:nvPr/>
        </p:nvSpPr>
        <p:spPr>
          <a:xfrm>
            <a:off x="7680960" y="1371600"/>
            <a:ext cx="3959352" cy="228600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1554480"/>
            <a:ext cx="3566160" cy="365760"/>
          </a:xfrm>
          <a:prstGeom prst="rect">
            <a:avLst/>
          </a:prstGeom>
          <a:noFill/>
        </p:spPr>
        <p:txBody>
          <a:bodyPr wrap="square" anchor="t" lIns="0" rIns="0" tIns="0" bIns="0">
            <a:spAutoFit/>
          </a:bodyPr>
          <a:lstStyle/>
          <a:p>
            <a:pPr algn="l"/>
            <a:r>
              <a:rPr sz="1600" b="1" i="0">
                <a:solidFill>
                  <a:srgbClr val="1E9E6A"/>
                </a:solidFill>
                <a:latin typeface="Cambria"/>
              </a:rPr>
              <a:t>Tailwinds</a:t>
            </a:r>
          </a:p>
        </p:txBody>
      </p:sp>
      <p:sp>
        <p:nvSpPr>
          <p:cNvPr id="7" name="TextBox 6"/>
          <p:cNvSpPr txBox="1"/>
          <p:nvPr/>
        </p:nvSpPr>
        <p:spPr>
          <a:xfrm>
            <a:off x="7909560" y="2011680"/>
            <a:ext cx="3566160" cy="1554480"/>
          </a:xfrm>
          <a:prstGeom prst="rect">
            <a:avLst/>
          </a:prstGeom>
          <a:noFill/>
        </p:spPr>
        <p:txBody>
          <a:bodyPr wrap="square" anchor="t" lIns="0" rIns="0" tIns="0" bIns="0">
            <a:spAutoFit/>
          </a:bodyPr>
          <a:lstStyle/>
          <a:p>
            <a:pPr algn="l"/>
            <a:r>
              <a:rPr sz="1200" b="0" i="0">
                <a:solidFill>
                  <a:srgbClr val="14212B"/>
                </a:solidFill>
                <a:latin typeface="Calibri"/>
              </a:rPr>
              <a:t>No clear sector impact today.</a:t>
            </a:r>
          </a:p>
        </p:txBody>
      </p:sp>
      <p:sp>
        <p:nvSpPr>
          <p:cNvPr id="8" name="Rounded Rectangle 7"/>
          <p:cNvSpPr/>
          <p:nvPr/>
        </p:nvSpPr>
        <p:spPr>
          <a:xfrm>
            <a:off x="7680960" y="3886200"/>
            <a:ext cx="3959352" cy="228600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4069080"/>
            <a:ext cx="3566160" cy="365760"/>
          </a:xfrm>
          <a:prstGeom prst="rect">
            <a:avLst/>
          </a:prstGeom>
          <a:noFill/>
        </p:spPr>
        <p:txBody>
          <a:bodyPr wrap="square" anchor="t" lIns="0" rIns="0" tIns="0" bIns="0">
            <a:spAutoFit/>
          </a:bodyPr>
          <a:lstStyle/>
          <a:p>
            <a:pPr algn="l"/>
            <a:r>
              <a:rPr sz="1600" b="1" i="0">
                <a:solidFill>
                  <a:srgbClr val="C8423B"/>
                </a:solidFill>
                <a:latin typeface="Cambria"/>
              </a:rPr>
              <a:t>Headwinds</a:t>
            </a:r>
          </a:p>
        </p:txBody>
      </p:sp>
      <p:sp>
        <p:nvSpPr>
          <p:cNvPr id="10" name="TextBox 9"/>
          <p:cNvSpPr txBox="1"/>
          <p:nvPr/>
        </p:nvSpPr>
        <p:spPr>
          <a:xfrm>
            <a:off x="7909560" y="4526280"/>
            <a:ext cx="3566160" cy="1554480"/>
          </a:xfrm>
          <a:prstGeom prst="rect">
            <a:avLst/>
          </a:prstGeom>
          <a:noFill/>
        </p:spPr>
        <p:txBody>
          <a:bodyPr wrap="square" anchor="t" lIns="0" rIns="0" tIns="0" bIns="0">
            <a:spAutoFit/>
          </a:bodyPr>
          <a:lstStyle/>
          <a:p>
            <a:pPr algn="l">
              <a:spcAft>
                <a:spcPts val="600"/>
              </a:spcAft>
            </a:pPr>
            <a:r>
              <a:rPr sz="1200" b="1" i="0">
                <a:solidFill>
                  <a:srgbClr val="14212B"/>
                </a:solidFill>
                <a:latin typeface="Calibri"/>
              </a:rPr>
              <a:t>Energy</a:t>
            </a:r>
            <a:r>
              <a:rPr sz="1200" b="0" i="0">
                <a:solidFill>
                  <a:srgbClr val="5B6770"/>
                </a:solidFill>
                <a:latin typeface="Calibri"/>
              </a:rPr>
              <a:t>: TotalEnergies, North Atlantic Energies, Etablissements Maurel &amp; Prom</a:t>
            </a:r>
          </a:p>
          <a:p>
            <a:pPr algn="l">
              <a:spcAft>
                <a:spcPts val="600"/>
              </a:spcAft>
            </a:pPr>
            <a:r>
              <a:rPr sz="1200" b="1" i="0">
                <a:solidFill>
                  <a:srgbClr val="14212B"/>
                </a:solidFill>
                <a:latin typeface="Calibri"/>
              </a:rPr>
              <a:t>Consumer Cyclical</a:t>
            </a:r>
            <a:r>
              <a:rPr sz="1200" b="0" i="0">
                <a:solidFill>
                  <a:srgbClr val="5B6770"/>
                </a:solidFill>
                <a:latin typeface="Calibri"/>
              </a:rPr>
              <a:t>: Valeo, Accor, SEB</a:t>
            </a:r>
          </a:p>
          <a:p>
            <a:pPr algn="l"/>
            <a:r>
              <a:rPr sz="1200" b="1" i="0">
                <a:solidFill>
                  <a:srgbClr val="14212B"/>
                </a:solidFill>
                <a:latin typeface="Calibri"/>
              </a:rPr>
              <a:t>Basic Materials</a:t>
            </a:r>
            <a:r>
              <a:rPr sz="1200" b="0" i="0">
                <a:solidFill>
                  <a:srgbClr val="5B6770"/>
                </a:solidFill>
                <a:latin typeface="Calibri"/>
              </a:rPr>
              <a:t>: L'Air Liquide, Arkema, Imerys</a:t>
            </a:r>
          </a:p>
        </p:txBody>
      </p:sp>
      <p:sp>
        <p:nvSpPr>
          <p:cNvPr id="11" name="TextBox 10"/>
          <p:cNvSpPr txBox="1"/>
          <p:nvPr/>
        </p:nvSpPr>
        <p:spPr>
          <a:xfrm>
            <a:off x="548640" y="6400800"/>
            <a:ext cx="11064240" cy="274320"/>
          </a:xfrm>
          <a:prstGeom prst="rect">
            <a:avLst/>
          </a:prstGeom>
          <a:noFill/>
        </p:spPr>
        <p:txBody>
          <a:bodyPr wrap="square" anchor="t" lIns="0" rIns="0" tIns="0" bIns="0">
            <a:spAutoFit/>
          </a:bodyPr>
          <a:lstStyle/>
          <a:p>
            <a:pPr algn="l"/>
            <a:r>
              <a:rPr sz="900" b="0" i="0">
                <a:solidFill>
                  <a:srgbClr val="5B6770"/>
                </a:solidFill>
                <a:latin typeface="Calibri"/>
              </a:rPr>
              <a:t>Sector impacts are the AI's reading of today's headlines; example stocks are from your liquid universe.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anchor="t" lIns="0" rIns="0" tIns="0" bIns="0">
            <a:spAutoFit/>
          </a:bodyPr>
          <a:lstStyle/>
          <a:p>
            <a:pPr algn="l"/>
            <a:r>
              <a:rPr sz="1100" b="1" i="0">
                <a:solidFill>
                  <a:srgbClr val="D99A1E"/>
                </a:solidFill>
                <a:latin typeface="Calibri"/>
              </a:rPr>
              <a:t>SHORT TERM</a:t>
            </a:r>
          </a:p>
        </p:txBody>
      </p:sp>
      <p:sp>
        <p:nvSpPr>
          <p:cNvPr id="3" name="TextBox 2"/>
          <p:cNvSpPr txBox="1"/>
          <p:nvPr/>
        </p:nvSpPr>
        <p:spPr>
          <a:xfrm>
            <a:off x="548640" y="566928"/>
            <a:ext cx="11064240" cy="640080"/>
          </a:xfrm>
          <a:prstGeom prst="rect">
            <a:avLst/>
          </a:prstGeom>
          <a:noFill/>
        </p:spPr>
        <p:txBody>
          <a:bodyPr wrap="square" anchor="t" lIns="0" rIns="0" tIns="0" bIns="0">
            <a:spAutoFit/>
          </a:bodyPr>
          <a:lstStyle/>
          <a:p>
            <a:pPr algn="l"/>
            <a:r>
              <a:rPr sz="3000" b="1" i="0">
                <a:solidFill>
                  <a:srgbClr val="14212B"/>
                </a:solidFill>
                <a:latin typeface="Cambria"/>
              </a:rPr>
              <a:t>Top 10 to consider for the next 5 days</a:t>
            </a:r>
          </a:p>
        </p:txBody>
      </p:sp>
      <p:graphicFrame>
        <p:nvGraphicFramePr>
          <p:cNvPr id="4" name="Table 3"/>
          <p:cNvGraphicFramePr>
            <a:graphicFrameLocks noGrp="1"/>
          </p:cNvGraphicFramePr>
          <p:nvPr/>
        </p:nvGraphicFramePr>
        <p:xfrm>
          <a:off x="548640" y="1325880"/>
          <a:ext cx="11091672" cy="5029200"/>
        </p:xfrm>
        <a:graphic>
          <a:graphicData uri="http://schemas.openxmlformats.org/drawingml/2006/table">
            <a:tbl>
              <a:tblPr firstRow="1">
                <a:tableStyleId>{5C22544A-7EE6-4342-B048-85BDC9FD1C3A}</a:tableStyleId>
              </a:tblPr>
              <a:tblGrid>
                <a:gridCol w="365760"/>
                <a:gridCol w="2148840"/>
                <a:gridCol w="1600200"/>
                <a:gridCol w="868680"/>
                <a:gridCol w="960120"/>
                <a:gridCol w="5148072"/>
              </a:tblGrid>
              <a:tr h="457200">
                <a:tc>
                  <a:txBody>
                    <a:bodyPr wrap="square"/>
                    <a:lstStyle/>
                    <a:p>
                      <a:pPr algn="l"/>
                      <a:r>
                        <a:rPr sz="1050" b="1">
                          <a:solidFill>
                            <a:srgbClr val="FFFFFF"/>
                          </a:solidFill>
                          <a:latin typeface="Calibri"/>
                        </a:rPr>
                        <a:t>#</a:t>
                      </a:r>
                    </a:p>
                  </a:txBody>
                  <a:tcPr marL="73152" marR="73152" marT="27432" marB="27432" anchor="ctr">
                    <a:solidFill>
                      <a:srgbClr val="1E9E6A"/>
                    </a:solidFill>
                  </a:tcPr>
                </a:tc>
                <a:tc>
                  <a:txBody>
                    <a:bodyPr wrap="square"/>
                    <a:lstStyle/>
                    <a:p>
                      <a:pPr algn="l"/>
                      <a:r>
                        <a:rPr sz="1050" b="1">
                          <a:solidFill>
                            <a:srgbClr val="FFFFFF"/>
                          </a:solidFill>
                          <a:latin typeface="Calibri"/>
                        </a:rPr>
                        <a:t>Company</a:t>
                      </a:r>
                    </a:p>
                  </a:txBody>
                  <a:tcPr marL="73152" marR="73152" marT="27432" marB="27432" anchor="ctr">
                    <a:solidFill>
                      <a:srgbClr val="1E9E6A"/>
                    </a:solidFill>
                  </a:tcPr>
                </a:tc>
                <a:tc>
                  <a:txBody>
                    <a:bodyPr wrap="square"/>
                    <a:lstStyle/>
                    <a:p>
                      <a:pPr algn="l"/>
                      <a:r>
                        <a:rPr sz="1050" b="1">
                          <a:solidFill>
                            <a:srgbClr val="FFFFFF"/>
                          </a:solidFill>
                          <a:latin typeface="Calibri"/>
                        </a:rPr>
                        <a:t>Sector</a:t>
                      </a:r>
                    </a:p>
                  </a:txBody>
                  <a:tcPr marL="73152" marR="73152" marT="27432" marB="27432" anchor="ctr">
                    <a:solidFill>
                      <a:srgbClr val="1E9E6A"/>
                    </a:solidFill>
                  </a:tcPr>
                </a:tc>
                <a:tc>
                  <a:txBody>
                    <a:bodyPr wrap="square"/>
                    <a:lstStyle/>
                    <a:p>
                      <a:pPr algn="l"/>
                      <a:r>
                        <a:rPr sz="1050" b="1">
                          <a:solidFill>
                            <a:srgbClr val="FFFFFF"/>
                          </a:solidFill>
                          <a:latin typeface="Calibri"/>
                        </a:rPr>
                        <a:t>Price €</a:t>
                      </a:r>
                    </a:p>
                  </a:txBody>
                  <a:tcPr marL="73152" marR="73152" marT="27432" marB="27432" anchor="ctr">
                    <a:solidFill>
                      <a:srgbClr val="1E9E6A"/>
                    </a:solidFill>
                  </a:tcPr>
                </a:tc>
                <a:tc>
                  <a:txBody>
                    <a:bodyPr wrap="square"/>
                    <a:lstStyle/>
                    <a:p>
                      <a:pPr algn="l"/>
                      <a:r>
                        <a:rPr sz="1050" b="1">
                          <a:solidFill>
                            <a:srgbClr val="FFFFFF"/>
                          </a:solidFill>
                          <a:latin typeface="Calibri"/>
                        </a:rPr>
                        <a:t>Beat CAC 40 *</a:t>
                      </a:r>
                    </a:p>
                  </a:txBody>
                  <a:tcPr marL="73152" marR="73152" marT="27432" marB="27432" anchor="ctr">
                    <a:solidFill>
                      <a:srgbClr val="1E9E6A"/>
                    </a:solidFill>
                  </a:tcPr>
                </a:tc>
                <a:tc>
                  <a:txBody>
                    <a:bodyPr wrap="square"/>
                    <a:lstStyle/>
                    <a:p>
                      <a:pPr algn="l"/>
                      <a:r>
                        <a:rPr sz="1050" b="1">
                          <a:solidFill>
                            <a:srgbClr val="FFFFFF"/>
                          </a:solidFill>
                          <a:latin typeface="Calibri"/>
                        </a:rPr>
                        <a:t>Key facts the model saw</a:t>
                      </a:r>
                    </a:p>
                  </a:txBody>
                  <a:tcPr marL="73152" marR="73152" marT="27432" marB="27432" anchor="ctr">
                    <a:solidFill>
                      <a:srgbClr val="1E9E6A"/>
                    </a:solidFill>
                  </a:tcPr>
                </a:tc>
              </a:tr>
              <a:tr h="457200">
                <a:tc>
                  <a:txBody>
                    <a:bodyPr wrap="square"/>
                    <a:lstStyle/>
                    <a:p>
                      <a:pPr algn="l"/>
                      <a:r>
                        <a:rPr sz="1050" b="0">
                          <a:solidFill>
                            <a:srgbClr val="14212B"/>
                          </a:solidFill>
                          <a:latin typeface="Calibri"/>
                        </a:rPr>
                        <a:t>1</a:t>
                      </a:r>
                    </a:p>
                  </a:txBody>
                  <a:tcPr marL="73152" marR="73152" marT="27432" marB="27432" anchor="ctr">
                    <a:solidFill>
                      <a:srgbClr val="FFFFFF"/>
                    </a:solidFill>
                  </a:tcPr>
                </a:tc>
                <a:tc>
                  <a:txBody>
                    <a:bodyPr wrap="square"/>
                    <a:lstStyle/>
                    <a:p>
                      <a:pPr algn="l"/>
                      <a:r>
                        <a:rPr sz="1050" b="1">
                          <a:solidFill>
                            <a:srgbClr val="14212B"/>
                          </a:solidFill>
                          <a:latin typeface="Calibri"/>
                        </a:rPr>
                        <a:t>Teleperformance</a:t>
                      </a:r>
                    </a:p>
                  </a:txBody>
                  <a:tcPr marL="73152" marR="73152" marT="27432" marB="27432" anchor="ctr">
                    <a:solidFill>
                      <a:srgbClr val="FFFFFF"/>
                    </a:solidFill>
                  </a:tcPr>
                </a:tc>
                <a:tc>
                  <a:txBody>
                    <a:bodyPr wrap="square"/>
                    <a:lstStyle/>
                    <a:p>
                      <a:pPr algn="l"/>
                      <a:r>
                        <a:rPr sz="1050" b="0">
                          <a:solidFill>
                            <a:srgbClr val="14212B"/>
                          </a:solidFill>
                          <a:latin typeface="Calibri"/>
                        </a:rPr>
                        <a:t>Industrials</a:t>
                      </a:r>
                    </a:p>
                  </a:txBody>
                  <a:tcPr marL="73152" marR="73152" marT="27432" marB="27432" anchor="ctr">
                    <a:solidFill>
                      <a:srgbClr val="FFFFFF"/>
                    </a:solidFill>
                  </a:tcPr>
                </a:tc>
                <a:tc>
                  <a:txBody>
                    <a:bodyPr wrap="square"/>
                    <a:lstStyle/>
                    <a:p>
                      <a:pPr algn="l"/>
                      <a:r>
                        <a:rPr sz="1050" b="0">
                          <a:solidFill>
                            <a:srgbClr val="14212B"/>
                          </a:solidFill>
                          <a:latin typeface="Calibri"/>
                        </a:rPr>
                        <a:t>70.70</a:t>
                      </a:r>
                    </a:p>
                  </a:txBody>
                  <a:tcPr marL="73152" marR="73152" marT="27432" marB="27432" anchor="ctr">
                    <a:solidFill>
                      <a:srgbClr val="FFFFFF"/>
                    </a:solidFill>
                  </a:tcPr>
                </a:tc>
                <a:tc>
                  <a:txBody>
                    <a:bodyPr wrap="square"/>
                    <a:lstStyle/>
                    <a:p>
                      <a:pPr algn="l"/>
                      <a:r>
                        <a:rPr sz="1050" b="0">
                          <a:solidFill>
                            <a:srgbClr val="14212B"/>
                          </a:solidFill>
                          <a:latin typeface="Calibri"/>
                        </a:rPr>
                        <a:t>67%</a:t>
                      </a:r>
                    </a:p>
                  </a:txBody>
                  <a:tcPr marL="73152" marR="73152" marT="27432" marB="27432" anchor="ctr">
                    <a:solidFill>
                      <a:srgbClr val="FFFFFF"/>
                    </a:solidFill>
                  </a:tcPr>
                </a:tc>
                <a:tc>
                  <a:txBody>
                    <a:bodyPr wrap="square"/>
                    <a:lstStyle/>
                    <a:p>
                      <a:pPr algn="l"/>
                      <a:r>
                        <a:rPr sz="950" b="0">
                          <a:solidFill>
                            <a:srgbClr val="14212B"/>
                          </a:solidFill>
                          <a:latin typeface="Calibri"/>
                        </a:rPr>
                        <a:t>+4.8% vs CAC 40 over 1 month; RSI 47; above 200-day average.</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2</a:t>
                      </a:r>
                    </a:p>
                  </a:txBody>
                  <a:tcPr marL="73152" marR="73152" marT="27432" marB="27432" anchor="ctr">
                    <a:solidFill>
                      <a:srgbClr val="F1F4F6"/>
                    </a:solidFill>
                  </a:tcPr>
                </a:tc>
                <a:tc>
                  <a:txBody>
                    <a:bodyPr wrap="square"/>
                    <a:lstStyle/>
                    <a:p>
                      <a:pPr algn="l"/>
                      <a:r>
                        <a:rPr sz="1050" b="1">
                          <a:solidFill>
                            <a:srgbClr val="14212B"/>
                          </a:solidFill>
                          <a:latin typeface="Calibri"/>
                        </a:rPr>
                        <a:t>Gecina</a:t>
                      </a:r>
                    </a:p>
                  </a:txBody>
                  <a:tcPr marL="73152" marR="73152" marT="27432" marB="27432" anchor="ctr">
                    <a:solidFill>
                      <a:srgbClr val="F1F4F6"/>
                    </a:solidFill>
                  </a:tcPr>
                </a:tc>
                <a:tc>
                  <a:txBody>
                    <a:bodyPr wrap="square"/>
                    <a:lstStyle/>
                    <a:p>
                      <a:pPr algn="l"/>
                      <a:r>
                        <a:rPr sz="1050" b="0">
                          <a:solidFill>
                            <a:srgbClr val="14212B"/>
                          </a:solidFill>
                          <a:latin typeface="Calibri"/>
                        </a:rPr>
                        <a:t>Real Estate</a:t>
                      </a:r>
                    </a:p>
                  </a:txBody>
                  <a:tcPr marL="73152" marR="73152" marT="27432" marB="27432" anchor="ctr">
                    <a:solidFill>
                      <a:srgbClr val="F1F4F6"/>
                    </a:solidFill>
                  </a:tcPr>
                </a:tc>
                <a:tc>
                  <a:txBody>
                    <a:bodyPr wrap="square"/>
                    <a:lstStyle/>
                    <a:p>
                      <a:pPr algn="l"/>
                      <a:r>
                        <a:rPr sz="1050" b="0">
                          <a:solidFill>
                            <a:srgbClr val="14212B"/>
                          </a:solidFill>
                          <a:latin typeface="Calibri"/>
                        </a:rPr>
                        <a:t>59.55</a:t>
                      </a:r>
                    </a:p>
                  </a:txBody>
                  <a:tcPr marL="73152" marR="73152" marT="27432" marB="27432" anchor="ctr">
                    <a:solidFill>
                      <a:srgbClr val="F1F4F6"/>
                    </a:solidFill>
                  </a:tcPr>
                </a:tc>
                <a:tc>
                  <a:txBody>
                    <a:bodyPr wrap="square"/>
                    <a:lstStyle/>
                    <a:p>
                      <a:pPr algn="l"/>
                      <a:r>
                        <a:rPr sz="1050" b="0">
                          <a:solidFill>
                            <a:srgbClr val="14212B"/>
                          </a:solidFill>
                          <a:latin typeface="Calibri"/>
                        </a:rPr>
                        <a:t>64%</a:t>
                      </a:r>
                    </a:p>
                  </a:txBody>
                  <a:tcPr marL="73152" marR="73152" marT="27432" marB="27432" anchor="ctr">
                    <a:solidFill>
                      <a:srgbClr val="F1F4F6"/>
                    </a:solidFill>
                  </a:tcPr>
                </a:tc>
                <a:tc>
                  <a:txBody>
                    <a:bodyPr wrap="square"/>
                    <a:lstStyle/>
                    <a:p>
                      <a:pPr algn="l"/>
                      <a:r>
                        <a:rPr sz="950" b="0">
                          <a:solidFill>
                            <a:srgbClr val="14212B"/>
                          </a:solidFill>
                          <a:latin typeface="Calibri"/>
                        </a:rPr>
                        <a:t>-8.3% vs CAC 40 over 1 month; RSI 16 (oversold); below 200-day average. News -0.5: Kempen downgrades its buy recommendation for Gecina to neutral and reduces its price target…</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3</a:t>
                      </a:r>
                    </a:p>
                  </a:txBody>
                  <a:tcPr marL="73152" marR="73152" marT="27432" marB="27432" anchor="ctr">
                    <a:solidFill>
                      <a:srgbClr val="FFFFFF"/>
                    </a:solidFill>
                  </a:tcPr>
                </a:tc>
                <a:tc>
                  <a:txBody>
                    <a:bodyPr wrap="square"/>
                    <a:lstStyle/>
                    <a:p>
                      <a:pPr algn="l"/>
                      <a:r>
                        <a:rPr sz="1050" b="1">
                          <a:solidFill>
                            <a:srgbClr val="14212B"/>
                          </a:solidFill>
                          <a:latin typeface="Calibri"/>
                        </a:rPr>
                        <a:t>TotalEnergies</a:t>
                      </a:r>
                    </a:p>
                  </a:txBody>
                  <a:tcPr marL="73152" marR="73152" marT="27432" marB="27432" anchor="ctr">
                    <a:solidFill>
                      <a:srgbClr val="FFFFFF"/>
                    </a:solidFill>
                  </a:tcPr>
                </a:tc>
                <a:tc>
                  <a:txBody>
                    <a:bodyPr wrap="square"/>
                    <a:lstStyle/>
                    <a:p>
                      <a:pPr algn="l"/>
                      <a:r>
                        <a:rPr sz="1050" b="0">
                          <a:solidFill>
                            <a:srgbClr val="14212B"/>
                          </a:solidFill>
                          <a:latin typeface="Calibri"/>
                        </a:rPr>
                        <a:t>Energy</a:t>
                      </a:r>
                    </a:p>
                  </a:txBody>
                  <a:tcPr marL="73152" marR="73152" marT="27432" marB="27432" anchor="ctr">
                    <a:solidFill>
                      <a:srgbClr val="FFFFFF"/>
                    </a:solidFill>
                  </a:tcPr>
                </a:tc>
                <a:tc>
                  <a:txBody>
                    <a:bodyPr wrap="square"/>
                    <a:lstStyle/>
                    <a:p>
                      <a:pPr algn="l"/>
                      <a:r>
                        <a:rPr sz="1050" b="0">
                          <a:solidFill>
                            <a:srgbClr val="14212B"/>
                          </a:solidFill>
                          <a:latin typeface="Calibri"/>
                        </a:rPr>
                        <a:t>74.29</a:t>
                      </a:r>
                    </a:p>
                  </a:txBody>
                  <a:tcPr marL="73152" marR="73152" marT="27432" marB="27432" anchor="ctr">
                    <a:solidFill>
                      <a:srgbClr val="FFFFFF"/>
                    </a:solidFill>
                  </a:tcPr>
                </a:tc>
                <a:tc>
                  <a:txBody>
                    <a:bodyPr wrap="square"/>
                    <a:lstStyle/>
                    <a:p>
                      <a:pPr algn="l"/>
                      <a:r>
                        <a:rPr sz="1050" b="0">
                          <a:solidFill>
                            <a:srgbClr val="14212B"/>
                          </a:solidFill>
                          <a:latin typeface="Calibri"/>
                        </a:rPr>
                        <a:t>63%</a:t>
                      </a:r>
                    </a:p>
                  </a:txBody>
                  <a:tcPr marL="73152" marR="73152" marT="27432" marB="27432" anchor="ctr">
                    <a:solidFill>
                      <a:srgbClr val="FFFFFF"/>
                    </a:solidFill>
                  </a:tcPr>
                </a:tc>
                <a:tc>
                  <a:txBody>
                    <a:bodyPr wrap="square"/>
                    <a:lstStyle/>
                    <a:p>
                      <a:pPr algn="l"/>
                      <a:r>
                        <a:rPr sz="950" b="0">
                          <a:solidFill>
                            <a:srgbClr val="14212B"/>
                          </a:solidFill>
                          <a:latin typeface="Calibri"/>
                        </a:rPr>
                        <a:t>+3.2% vs CAC 40 over 1 month; RSI 32; above 200-day average. News +0.5: TotalEnergies announces exceptional bonus for its French employees and wins bids for oil… World-news headwind (Energy).</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4</a:t>
                      </a:r>
                    </a:p>
                  </a:txBody>
                  <a:tcPr marL="73152" marR="73152" marT="27432" marB="27432" anchor="ctr">
                    <a:solidFill>
                      <a:srgbClr val="F1F4F6"/>
                    </a:solidFill>
                  </a:tcPr>
                </a:tc>
                <a:tc>
                  <a:txBody>
                    <a:bodyPr wrap="square"/>
                    <a:lstStyle/>
                    <a:p>
                      <a:pPr algn="l"/>
                      <a:r>
                        <a:rPr sz="1050" b="1">
                          <a:solidFill>
                            <a:srgbClr val="14212B"/>
                          </a:solidFill>
                          <a:latin typeface="Calibri"/>
                        </a:rPr>
                        <a:t>Gaztransport &amp; Technigaz</a:t>
                      </a:r>
                    </a:p>
                  </a:txBody>
                  <a:tcPr marL="73152" marR="73152" marT="27432" marB="27432" anchor="ctr">
                    <a:solidFill>
                      <a:srgbClr val="F1F4F6"/>
                    </a:solidFill>
                  </a:tcPr>
                </a:tc>
                <a:tc>
                  <a:txBody>
                    <a:bodyPr wrap="square"/>
                    <a:lstStyle/>
                    <a:p>
                      <a:pPr algn="l"/>
                      <a:r>
                        <a:rPr sz="1050" b="0">
                          <a:solidFill>
                            <a:srgbClr val="14212B"/>
                          </a:solidFill>
                          <a:latin typeface="Calibri"/>
                        </a:rPr>
                        <a:t>Energy</a:t>
                      </a:r>
                    </a:p>
                  </a:txBody>
                  <a:tcPr marL="73152" marR="73152" marT="27432" marB="27432" anchor="ctr">
                    <a:solidFill>
                      <a:srgbClr val="F1F4F6"/>
                    </a:solidFill>
                  </a:tcPr>
                </a:tc>
                <a:tc>
                  <a:txBody>
                    <a:bodyPr wrap="square"/>
                    <a:lstStyle/>
                    <a:p>
                      <a:pPr algn="l"/>
                      <a:r>
                        <a:rPr sz="1050" b="0">
                          <a:solidFill>
                            <a:srgbClr val="14212B"/>
                          </a:solidFill>
                          <a:latin typeface="Calibri"/>
                        </a:rPr>
                        <a:t>208.80</a:t>
                      </a:r>
                    </a:p>
                  </a:txBody>
                  <a:tcPr marL="73152" marR="73152" marT="27432" marB="27432" anchor="ctr">
                    <a:solidFill>
                      <a:srgbClr val="F1F4F6"/>
                    </a:solidFill>
                  </a:tcPr>
                </a:tc>
                <a:tc>
                  <a:txBody>
                    <a:bodyPr wrap="square"/>
                    <a:lstStyle/>
                    <a:p>
                      <a:pPr algn="l"/>
                      <a:r>
                        <a:rPr sz="1050" b="0">
                          <a:solidFill>
                            <a:srgbClr val="14212B"/>
                          </a:solidFill>
                          <a:latin typeface="Calibri"/>
                        </a:rPr>
                        <a:t>63%</a:t>
                      </a:r>
                    </a:p>
                  </a:txBody>
                  <a:tcPr marL="73152" marR="73152" marT="27432" marB="27432" anchor="ctr">
                    <a:solidFill>
                      <a:srgbClr val="F1F4F6"/>
                    </a:solidFill>
                  </a:tcPr>
                </a:tc>
                <a:tc>
                  <a:txBody>
                    <a:bodyPr wrap="square"/>
                    <a:lstStyle/>
                    <a:p>
                      <a:pPr algn="l"/>
                      <a:r>
                        <a:rPr sz="950" b="0">
                          <a:solidFill>
                            <a:srgbClr val="14212B"/>
                          </a:solidFill>
                          <a:latin typeface="Calibri"/>
                        </a:rPr>
                        <a:t>+1.0% vs CAC 40 over 1 month; RSI 43; above 200-day average. World-news headwind (Energy).</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5</a:t>
                      </a:r>
                    </a:p>
                  </a:txBody>
                  <a:tcPr marL="73152" marR="73152" marT="27432" marB="27432" anchor="ctr">
                    <a:solidFill>
                      <a:srgbClr val="FFFFFF"/>
                    </a:solidFill>
                  </a:tcPr>
                </a:tc>
                <a:tc>
                  <a:txBody>
                    <a:bodyPr wrap="square"/>
                    <a:lstStyle/>
                    <a:p>
                      <a:pPr algn="l"/>
                      <a:r>
                        <a:rPr sz="1050" b="1">
                          <a:solidFill>
                            <a:srgbClr val="14212B"/>
                          </a:solidFill>
                          <a:latin typeface="Calibri"/>
                        </a:rPr>
                        <a:t>Viridien Société anonyme</a:t>
                      </a:r>
                    </a:p>
                  </a:txBody>
                  <a:tcPr marL="73152" marR="73152" marT="27432" marB="27432" anchor="ctr">
                    <a:solidFill>
                      <a:srgbClr val="FFFFFF"/>
                    </a:solidFill>
                  </a:tcPr>
                </a:tc>
                <a:tc>
                  <a:txBody>
                    <a:bodyPr wrap="square"/>
                    <a:lstStyle/>
                    <a:p>
                      <a:pPr algn="l"/>
                      <a:r>
                        <a:rPr sz="1050" b="0">
                          <a:solidFill>
                            <a:srgbClr val="14212B"/>
                          </a:solidFill>
                          <a:latin typeface="Calibri"/>
                        </a:rPr>
                        <a:t>Energy</a:t>
                      </a:r>
                    </a:p>
                  </a:txBody>
                  <a:tcPr marL="73152" marR="73152" marT="27432" marB="27432" anchor="ctr">
                    <a:solidFill>
                      <a:srgbClr val="FFFFFF"/>
                    </a:solidFill>
                  </a:tcPr>
                </a:tc>
                <a:tc>
                  <a:txBody>
                    <a:bodyPr wrap="square"/>
                    <a:lstStyle/>
                    <a:p>
                      <a:pPr algn="l"/>
                      <a:r>
                        <a:rPr sz="1050" b="0">
                          <a:solidFill>
                            <a:srgbClr val="14212B"/>
                          </a:solidFill>
                          <a:latin typeface="Calibri"/>
                        </a:rPr>
                        <a:t>85.40</a:t>
                      </a:r>
                    </a:p>
                  </a:txBody>
                  <a:tcPr marL="73152" marR="73152" marT="27432" marB="27432" anchor="ctr">
                    <a:solidFill>
                      <a:srgbClr val="FFFFFF"/>
                    </a:solidFill>
                  </a:tcPr>
                </a:tc>
                <a:tc>
                  <a:txBody>
                    <a:bodyPr wrap="square"/>
                    <a:lstStyle/>
                    <a:p>
                      <a:pPr algn="l"/>
                      <a:r>
                        <a:rPr sz="1050" b="0">
                          <a:solidFill>
                            <a:srgbClr val="14212B"/>
                          </a:solidFill>
                          <a:latin typeface="Calibri"/>
                        </a:rPr>
                        <a:t>63%</a:t>
                      </a:r>
                    </a:p>
                  </a:txBody>
                  <a:tcPr marL="73152" marR="73152" marT="27432" marB="27432" anchor="ctr">
                    <a:solidFill>
                      <a:srgbClr val="FFFFFF"/>
                    </a:solidFill>
                  </a:tcPr>
                </a:tc>
                <a:tc>
                  <a:txBody>
                    <a:bodyPr wrap="square"/>
                    <a:lstStyle/>
                    <a:p>
                      <a:pPr algn="l"/>
                      <a:r>
                        <a:rPr sz="950" b="0">
                          <a:solidFill>
                            <a:srgbClr val="14212B"/>
                          </a:solidFill>
                          <a:latin typeface="Calibri"/>
                        </a:rPr>
                        <a:t>+4.0% vs CAC 40 over 1 month; RSI 47; below 200-day average. World-news headwind (Energy).</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6</a:t>
                      </a:r>
                    </a:p>
                  </a:txBody>
                  <a:tcPr marL="73152" marR="73152" marT="27432" marB="27432" anchor="ctr">
                    <a:solidFill>
                      <a:srgbClr val="F1F4F6"/>
                    </a:solidFill>
                  </a:tcPr>
                </a:tc>
                <a:tc>
                  <a:txBody>
                    <a:bodyPr wrap="square"/>
                    <a:lstStyle/>
                    <a:p>
                      <a:pPr algn="l"/>
                      <a:r>
                        <a:rPr sz="1050" b="1">
                          <a:solidFill>
                            <a:srgbClr val="14212B"/>
                          </a:solidFill>
                          <a:latin typeface="Calibri"/>
                        </a:rPr>
                        <a:t>ABIVAX Société Anonyme</a:t>
                      </a:r>
                    </a:p>
                  </a:txBody>
                  <a:tcPr marL="73152" marR="73152" marT="27432" marB="27432" anchor="ctr">
                    <a:solidFill>
                      <a:srgbClr val="F1F4F6"/>
                    </a:solidFill>
                  </a:tcPr>
                </a:tc>
                <a:tc>
                  <a:txBody>
                    <a:bodyPr wrap="square"/>
                    <a:lstStyle/>
                    <a:p>
                      <a:pPr algn="l"/>
                      <a:r>
                        <a:rPr sz="1050" b="0">
                          <a:solidFill>
                            <a:srgbClr val="14212B"/>
                          </a:solidFill>
                          <a:latin typeface="Calibri"/>
                        </a:rPr>
                        <a:t>Healthcare</a:t>
                      </a:r>
                    </a:p>
                  </a:txBody>
                  <a:tcPr marL="73152" marR="73152" marT="27432" marB="27432" anchor="ctr">
                    <a:solidFill>
                      <a:srgbClr val="F1F4F6"/>
                    </a:solidFill>
                  </a:tcPr>
                </a:tc>
                <a:tc>
                  <a:txBody>
                    <a:bodyPr wrap="square"/>
                    <a:lstStyle/>
                    <a:p>
                      <a:pPr algn="l"/>
                      <a:r>
                        <a:rPr sz="1050" b="0">
                          <a:solidFill>
                            <a:srgbClr val="14212B"/>
                          </a:solidFill>
                          <a:latin typeface="Calibri"/>
                        </a:rPr>
                        <a:t>83.95</a:t>
                      </a:r>
                    </a:p>
                  </a:txBody>
                  <a:tcPr marL="73152" marR="73152" marT="27432" marB="27432" anchor="ctr">
                    <a:solidFill>
                      <a:srgbClr val="F1F4F6"/>
                    </a:solidFill>
                  </a:tcPr>
                </a:tc>
                <a:tc>
                  <a:txBody>
                    <a:bodyPr wrap="square"/>
                    <a:lstStyle/>
                    <a:p>
                      <a:pPr algn="l"/>
                      <a:r>
                        <a:rPr sz="1050" b="0">
                          <a:solidFill>
                            <a:srgbClr val="14212B"/>
                          </a:solidFill>
                          <a:latin typeface="Calibri"/>
                        </a:rPr>
                        <a:t>63%</a:t>
                      </a:r>
                    </a:p>
                  </a:txBody>
                  <a:tcPr marL="73152" marR="73152" marT="27432" marB="27432" anchor="ctr">
                    <a:solidFill>
                      <a:srgbClr val="F1F4F6"/>
                    </a:solidFill>
                  </a:tcPr>
                </a:tc>
                <a:tc>
                  <a:txBody>
                    <a:bodyPr wrap="square"/>
                    <a:lstStyle/>
                    <a:p>
                      <a:pPr algn="l"/>
                      <a:r>
                        <a:rPr sz="950" b="0">
                          <a:solidFill>
                            <a:srgbClr val="14212B"/>
                          </a:solidFill>
                          <a:latin typeface="Calibri"/>
                        </a:rPr>
                        <a:t>-9.6% vs CAC 40 over 1 month; RSI 28 (oversold); below 200-day average. News +0.5: Abivax is planning to present data on Obéfazimod at the United European Gastroenterology…</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7</a:t>
                      </a:r>
                    </a:p>
                  </a:txBody>
                  <a:tcPr marL="73152" marR="73152" marT="27432" marB="27432" anchor="ctr">
                    <a:solidFill>
                      <a:srgbClr val="FFFFFF"/>
                    </a:solidFill>
                  </a:tcPr>
                </a:tc>
                <a:tc>
                  <a:txBody>
                    <a:bodyPr wrap="square"/>
                    <a:lstStyle/>
                    <a:p>
                      <a:pPr algn="l"/>
                      <a:r>
                        <a:rPr sz="1050" b="1">
                          <a:solidFill>
                            <a:srgbClr val="14212B"/>
                          </a:solidFill>
                          <a:latin typeface="Calibri"/>
                        </a:rPr>
                        <a:t>Inventiva</a:t>
                      </a:r>
                    </a:p>
                  </a:txBody>
                  <a:tcPr marL="73152" marR="73152" marT="27432" marB="27432" anchor="ctr">
                    <a:solidFill>
                      <a:srgbClr val="FFFFFF"/>
                    </a:solidFill>
                  </a:tcPr>
                </a:tc>
                <a:tc>
                  <a:txBody>
                    <a:bodyPr wrap="square"/>
                    <a:lstStyle/>
                    <a:p>
                      <a:pPr algn="l"/>
                      <a:r>
                        <a:rPr sz="1050" b="0">
                          <a:solidFill>
                            <a:srgbClr val="14212B"/>
                          </a:solidFill>
                          <a:latin typeface="Calibri"/>
                        </a:rPr>
                        <a:t>Healthcare</a:t>
                      </a:r>
                    </a:p>
                  </a:txBody>
                  <a:tcPr marL="73152" marR="73152" marT="27432" marB="27432" anchor="ctr">
                    <a:solidFill>
                      <a:srgbClr val="FFFFFF"/>
                    </a:solidFill>
                  </a:tcPr>
                </a:tc>
                <a:tc>
                  <a:txBody>
                    <a:bodyPr wrap="square"/>
                    <a:lstStyle/>
                    <a:p>
                      <a:pPr algn="l"/>
                      <a:r>
                        <a:rPr sz="1050" b="0">
                          <a:solidFill>
                            <a:srgbClr val="14212B"/>
                          </a:solidFill>
                          <a:latin typeface="Calibri"/>
                        </a:rPr>
                        <a:t>3.04</a:t>
                      </a:r>
                    </a:p>
                  </a:txBody>
                  <a:tcPr marL="73152" marR="73152" marT="27432" marB="27432" anchor="ctr">
                    <a:solidFill>
                      <a:srgbClr val="FFFFFF"/>
                    </a:solidFill>
                  </a:tcPr>
                </a:tc>
                <a:tc>
                  <a:txBody>
                    <a:bodyPr wrap="square"/>
                    <a:lstStyle/>
                    <a:p>
                      <a:pPr algn="l"/>
                      <a:r>
                        <a:rPr sz="1050" b="0">
                          <a:solidFill>
                            <a:srgbClr val="14212B"/>
                          </a:solidFill>
                          <a:latin typeface="Calibri"/>
                        </a:rPr>
                        <a:t>63%</a:t>
                      </a:r>
                    </a:p>
                  </a:txBody>
                  <a:tcPr marL="73152" marR="73152" marT="27432" marB="27432" anchor="ctr">
                    <a:solidFill>
                      <a:srgbClr val="FFFFFF"/>
                    </a:solidFill>
                  </a:tcPr>
                </a:tc>
                <a:tc>
                  <a:txBody>
                    <a:bodyPr wrap="square"/>
                    <a:lstStyle/>
                    <a:p>
                      <a:pPr algn="l"/>
                      <a:r>
                        <a:rPr sz="950" b="0">
                          <a:solidFill>
                            <a:srgbClr val="14212B"/>
                          </a:solidFill>
                          <a:latin typeface="Calibri"/>
                        </a:rPr>
                        <a:t>-20.8% vs CAC 40 over 1 month; RSI 39; below 200-day average. News +0.3: Meeting with significant increase for Inventiva, indicating a positive sentiment in the market</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8</a:t>
                      </a:r>
                    </a:p>
                  </a:txBody>
                  <a:tcPr marL="73152" marR="73152" marT="27432" marB="27432" anchor="ctr">
                    <a:solidFill>
                      <a:srgbClr val="F1F4F6"/>
                    </a:solidFill>
                  </a:tcPr>
                </a:tc>
                <a:tc>
                  <a:txBody>
                    <a:bodyPr wrap="square"/>
                    <a:lstStyle/>
                    <a:p>
                      <a:pPr algn="l"/>
                      <a:r>
                        <a:rPr sz="1050" b="1">
                          <a:solidFill>
                            <a:srgbClr val="14212B"/>
                          </a:solidFill>
                          <a:latin typeface="Calibri"/>
                        </a:rPr>
                        <a:t>Etablissements Maurel &amp; Prom</a:t>
                      </a:r>
                    </a:p>
                  </a:txBody>
                  <a:tcPr marL="73152" marR="73152" marT="27432" marB="27432" anchor="ctr">
                    <a:solidFill>
                      <a:srgbClr val="F1F4F6"/>
                    </a:solidFill>
                  </a:tcPr>
                </a:tc>
                <a:tc>
                  <a:txBody>
                    <a:bodyPr wrap="square"/>
                    <a:lstStyle/>
                    <a:p>
                      <a:pPr algn="l"/>
                      <a:r>
                        <a:rPr sz="1050" b="0">
                          <a:solidFill>
                            <a:srgbClr val="14212B"/>
                          </a:solidFill>
                          <a:latin typeface="Calibri"/>
                        </a:rPr>
                        <a:t>Energy</a:t>
                      </a:r>
                    </a:p>
                  </a:txBody>
                  <a:tcPr marL="73152" marR="73152" marT="27432" marB="27432" anchor="ctr">
                    <a:solidFill>
                      <a:srgbClr val="F1F4F6"/>
                    </a:solidFill>
                  </a:tcPr>
                </a:tc>
                <a:tc>
                  <a:txBody>
                    <a:bodyPr wrap="square"/>
                    <a:lstStyle/>
                    <a:p>
                      <a:pPr algn="l"/>
                      <a:r>
                        <a:rPr sz="1050" b="0">
                          <a:solidFill>
                            <a:srgbClr val="14212B"/>
                          </a:solidFill>
                          <a:latin typeface="Calibri"/>
                        </a:rPr>
                        <a:t>7.73</a:t>
                      </a:r>
                    </a:p>
                  </a:txBody>
                  <a:tcPr marL="73152" marR="73152" marT="27432" marB="27432" anchor="ctr">
                    <a:solidFill>
                      <a:srgbClr val="F1F4F6"/>
                    </a:solidFill>
                  </a:tcPr>
                </a:tc>
                <a:tc>
                  <a:txBody>
                    <a:bodyPr wrap="square"/>
                    <a:lstStyle/>
                    <a:p>
                      <a:pPr algn="l"/>
                      <a:r>
                        <a:rPr sz="1050" b="0">
                          <a:solidFill>
                            <a:srgbClr val="14212B"/>
                          </a:solidFill>
                          <a:latin typeface="Calibri"/>
                        </a:rPr>
                        <a:t>62%</a:t>
                      </a:r>
                    </a:p>
                  </a:txBody>
                  <a:tcPr marL="73152" marR="73152" marT="27432" marB="27432" anchor="ctr">
                    <a:solidFill>
                      <a:srgbClr val="F1F4F6"/>
                    </a:solidFill>
                  </a:tcPr>
                </a:tc>
                <a:tc>
                  <a:txBody>
                    <a:bodyPr wrap="square"/>
                    <a:lstStyle/>
                    <a:p>
                      <a:pPr algn="l"/>
                      <a:r>
                        <a:rPr sz="950" b="0">
                          <a:solidFill>
                            <a:srgbClr val="14212B"/>
                          </a:solidFill>
                          <a:latin typeface="Calibri"/>
                        </a:rPr>
                        <a:t>+2.5% vs CAC 40 over 1 month; RSI 25 (oversold); below 200-day average. World-news headwind (Energy).</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9</a:t>
                      </a:r>
                    </a:p>
                  </a:txBody>
                  <a:tcPr marL="73152" marR="73152" marT="27432" marB="27432" anchor="ctr">
                    <a:solidFill>
                      <a:srgbClr val="FFFFFF"/>
                    </a:solidFill>
                  </a:tcPr>
                </a:tc>
                <a:tc>
                  <a:txBody>
                    <a:bodyPr wrap="square"/>
                    <a:lstStyle/>
                    <a:p>
                      <a:pPr algn="l"/>
                      <a:r>
                        <a:rPr sz="1050" b="1">
                          <a:solidFill>
                            <a:srgbClr val="14212B"/>
                          </a:solidFill>
                          <a:latin typeface="Calibri"/>
                        </a:rPr>
                        <a:t>Eutelsat Communications</a:t>
                      </a:r>
                    </a:p>
                  </a:txBody>
                  <a:tcPr marL="73152" marR="73152" marT="27432" marB="27432" anchor="ctr">
                    <a:solidFill>
                      <a:srgbClr val="FFFFFF"/>
                    </a:solidFill>
                  </a:tcPr>
                </a:tc>
                <a:tc>
                  <a:txBody>
                    <a:bodyPr wrap="square"/>
                    <a:lstStyle/>
                    <a:p>
                      <a:pPr algn="l"/>
                      <a:r>
                        <a:rPr sz="1050" b="0">
                          <a:solidFill>
                            <a:srgbClr val="14212B"/>
                          </a:solidFill>
                          <a:latin typeface="Calibri"/>
                        </a:rPr>
                        <a:t>Communication Services</a:t>
                      </a:r>
                    </a:p>
                  </a:txBody>
                  <a:tcPr marL="73152" marR="73152" marT="27432" marB="27432" anchor="ctr">
                    <a:solidFill>
                      <a:srgbClr val="FFFFFF"/>
                    </a:solidFill>
                  </a:tcPr>
                </a:tc>
                <a:tc>
                  <a:txBody>
                    <a:bodyPr wrap="square"/>
                    <a:lstStyle/>
                    <a:p>
                      <a:pPr algn="l"/>
                      <a:r>
                        <a:rPr sz="1050" b="0">
                          <a:solidFill>
                            <a:srgbClr val="14212B"/>
                          </a:solidFill>
                          <a:latin typeface="Calibri"/>
                        </a:rPr>
                        <a:t>1.55</a:t>
                      </a:r>
                    </a:p>
                  </a:txBody>
                  <a:tcPr marL="73152" marR="73152" marT="27432" marB="27432" anchor="ctr">
                    <a:solidFill>
                      <a:srgbClr val="FFFFFF"/>
                    </a:solidFill>
                  </a:tcPr>
                </a:tc>
                <a:tc>
                  <a:txBody>
                    <a:bodyPr wrap="square"/>
                    <a:lstStyle/>
                    <a:p>
                      <a:pPr algn="l"/>
                      <a:r>
                        <a:rPr sz="1050" b="0">
                          <a:solidFill>
                            <a:srgbClr val="14212B"/>
                          </a:solidFill>
                          <a:latin typeface="Calibri"/>
                        </a:rPr>
                        <a:t>62%</a:t>
                      </a:r>
                    </a:p>
                  </a:txBody>
                  <a:tcPr marL="73152" marR="73152" marT="27432" marB="27432" anchor="ctr">
                    <a:solidFill>
                      <a:srgbClr val="FFFFFF"/>
                    </a:solidFill>
                  </a:tcPr>
                </a:tc>
                <a:tc>
                  <a:txBody>
                    <a:bodyPr wrap="square"/>
                    <a:lstStyle/>
                    <a:p>
                      <a:pPr algn="l"/>
                      <a:r>
                        <a:rPr sz="950" b="0">
                          <a:solidFill>
                            <a:srgbClr val="14212B"/>
                          </a:solidFill>
                          <a:latin typeface="Calibri"/>
                        </a:rPr>
                        <a:t>-8.7% vs CAC 40 over 1 month; RSI 20 (oversold); below 200-day average.</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10</a:t>
                      </a:r>
                    </a:p>
                  </a:txBody>
                  <a:tcPr marL="73152" marR="73152" marT="27432" marB="27432" anchor="ctr">
                    <a:solidFill>
                      <a:srgbClr val="F1F4F6"/>
                    </a:solidFill>
                  </a:tcPr>
                </a:tc>
                <a:tc>
                  <a:txBody>
                    <a:bodyPr wrap="square"/>
                    <a:lstStyle/>
                    <a:p>
                      <a:pPr algn="l"/>
                      <a:r>
                        <a:rPr sz="1050" b="1">
                          <a:solidFill>
                            <a:srgbClr val="14212B"/>
                          </a:solidFill>
                          <a:latin typeface="Calibri"/>
                        </a:rPr>
                        <a:t>Ubisoft Entertainment</a:t>
                      </a:r>
                    </a:p>
                  </a:txBody>
                  <a:tcPr marL="73152" marR="73152" marT="27432" marB="27432" anchor="ctr">
                    <a:solidFill>
                      <a:srgbClr val="F1F4F6"/>
                    </a:solidFill>
                  </a:tcPr>
                </a:tc>
                <a:tc>
                  <a:txBody>
                    <a:bodyPr wrap="square"/>
                    <a:lstStyle/>
                    <a:p>
                      <a:pPr algn="l"/>
                      <a:r>
                        <a:rPr sz="1050" b="0">
                          <a:solidFill>
                            <a:srgbClr val="14212B"/>
                          </a:solidFill>
                          <a:latin typeface="Calibri"/>
                        </a:rPr>
                        <a:t>Communication Services</a:t>
                      </a:r>
                    </a:p>
                  </a:txBody>
                  <a:tcPr marL="73152" marR="73152" marT="27432" marB="27432" anchor="ctr">
                    <a:solidFill>
                      <a:srgbClr val="F1F4F6"/>
                    </a:solidFill>
                  </a:tcPr>
                </a:tc>
                <a:tc>
                  <a:txBody>
                    <a:bodyPr wrap="square"/>
                    <a:lstStyle/>
                    <a:p>
                      <a:pPr algn="l"/>
                      <a:r>
                        <a:rPr sz="1050" b="0">
                          <a:solidFill>
                            <a:srgbClr val="14212B"/>
                          </a:solidFill>
                          <a:latin typeface="Calibri"/>
                        </a:rPr>
                        <a:t>5.09</a:t>
                      </a:r>
                    </a:p>
                  </a:txBody>
                  <a:tcPr marL="73152" marR="73152" marT="27432" marB="27432" anchor="ctr">
                    <a:solidFill>
                      <a:srgbClr val="F1F4F6"/>
                    </a:solidFill>
                  </a:tcPr>
                </a:tc>
                <a:tc>
                  <a:txBody>
                    <a:bodyPr wrap="square"/>
                    <a:lstStyle/>
                    <a:p>
                      <a:pPr algn="l"/>
                      <a:r>
                        <a:rPr sz="1050" b="0">
                          <a:solidFill>
                            <a:srgbClr val="14212B"/>
                          </a:solidFill>
                          <a:latin typeface="Calibri"/>
                        </a:rPr>
                        <a:t>61%</a:t>
                      </a:r>
                    </a:p>
                  </a:txBody>
                  <a:tcPr marL="73152" marR="73152" marT="27432" marB="27432" anchor="ctr">
                    <a:solidFill>
                      <a:srgbClr val="F1F4F6"/>
                    </a:solidFill>
                  </a:tcPr>
                </a:tc>
                <a:tc>
                  <a:txBody>
                    <a:bodyPr wrap="square"/>
                    <a:lstStyle/>
                    <a:p>
                      <a:pPr algn="l"/>
                      <a:r>
                        <a:rPr sz="950" b="0">
                          <a:solidFill>
                            <a:srgbClr val="14212B"/>
                          </a:solidFill>
                          <a:latin typeface="Calibri"/>
                        </a:rPr>
                        <a:t>+9.4% vs CAC 40 over 1 month; RSI 41; above 200-day average.</a:t>
                      </a:r>
                    </a:p>
                  </a:txBody>
                  <a:tcPr marL="73152" marR="73152" marT="27432" marB="27432" anchor="ctr">
                    <a:solidFill>
                      <a:srgbClr val="F1F4F6"/>
                    </a:solidFill>
                  </a:tcPr>
                </a:tc>
              </a:tr>
            </a:tbl>
          </a:graphicData>
        </a:graphic>
      </p:graphicFrame>
      <p:sp>
        <p:nvSpPr>
          <p:cNvPr id="5" name="TextBox 4"/>
          <p:cNvSpPr txBox="1"/>
          <p:nvPr/>
        </p:nvSpPr>
        <p:spPr>
          <a:xfrm>
            <a:off x="548640" y="6400800"/>
            <a:ext cx="11064240" cy="274320"/>
          </a:xfrm>
          <a:prstGeom prst="rect">
            <a:avLst/>
          </a:prstGeom>
          <a:noFill/>
        </p:spPr>
        <p:txBody>
          <a:bodyPr wrap="square" anchor="t" lIns="0" rIns="0" tIns="0" bIns="0">
            <a:spAutoFit/>
          </a:bodyPr>
          <a:lstStyle/>
          <a:p>
            <a:pPr algn="l"/>
            <a:r>
              <a:rPr sz="900" b="0" i="0">
                <a:solidFill>
                  <a:srgbClr val="5B6770"/>
                </a:solidFill>
                <a:latin typeface="Calibri"/>
              </a:rPr>
              <a:t>* Model's estimated chance to beat the CAC 40 over 5 trading days. Ranked by that chance; the model's measured skill is modest (see last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anchor="t" lIns="0" rIns="0" tIns="0" bIns="0">
            <a:spAutoFit/>
          </a:bodyPr>
          <a:lstStyle/>
          <a:p>
            <a:pPr algn="l"/>
            <a:r>
              <a:rPr sz="1100" b="1" i="0">
                <a:solidFill>
                  <a:srgbClr val="D99A1E"/>
                </a:solidFill>
                <a:latin typeface="Calibri"/>
              </a:rPr>
              <a:t>SHORT TERM</a:t>
            </a:r>
          </a:p>
        </p:txBody>
      </p:sp>
      <p:sp>
        <p:nvSpPr>
          <p:cNvPr id="3" name="TextBox 2"/>
          <p:cNvSpPr txBox="1"/>
          <p:nvPr/>
        </p:nvSpPr>
        <p:spPr>
          <a:xfrm>
            <a:off x="548640" y="566928"/>
            <a:ext cx="11064240" cy="640080"/>
          </a:xfrm>
          <a:prstGeom prst="rect">
            <a:avLst/>
          </a:prstGeom>
          <a:noFill/>
        </p:spPr>
        <p:txBody>
          <a:bodyPr wrap="square" anchor="t" lIns="0" rIns="0" tIns="0" bIns="0">
            <a:spAutoFit/>
          </a:bodyPr>
          <a:lstStyle/>
          <a:p>
            <a:pPr algn="l"/>
            <a:r>
              <a:rPr sz="3000" b="1" i="0">
                <a:solidFill>
                  <a:srgbClr val="14212B"/>
                </a:solidFill>
                <a:latin typeface="Cambria"/>
              </a:rPr>
              <a:t>Top 10 to avoid for the next 5 days</a:t>
            </a:r>
          </a:p>
        </p:txBody>
      </p:sp>
      <p:graphicFrame>
        <p:nvGraphicFramePr>
          <p:cNvPr id="4" name="Table 3"/>
          <p:cNvGraphicFramePr>
            <a:graphicFrameLocks noGrp="1"/>
          </p:cNvGraphicFramePr>
          <p:nvPr/>
        </p:nvGraphicFramePr>
        <p:xfrm>
          <a:off x="548640" y="1325880"/>
          <a:ext cx="11091672" cy="5029200"/>
        </p:xfrm>
        <a:graphic>
          <a:graphicData uri="http://schemas.openxmlformats.org/drawingml/2006/table">
            <a:tbl>
              <a:tblPr firstRow="1">
                <a:tableStyleId>{5C22544A-7EE6-4342-B048-85BDC9FD1C3A}</a:tableStyleId>
              </a:tblPr>
              <a:tblGrid>
                <a:gridCol w="365760"/>
                <a:gridCol w="2148840"/>
                <a:gridCol w="1600200"/>
                <a:gridCol w="868680"/>
                <a:gridCol w="960120"/>
                <a:gridCol w="5148072"/>
              </a:tblGrid>
              <a:tr h="457200">
                <a:tc>
                  <a:txBody>
                    <a:bodyPr wrap="square"/>
                    <a:lstStyle/>
                    <a:p>
                      <a:pPr algn="l"/>
                      <a:r>
                        <a:rPr sz="1050" b="1">
                          <a:solidFill>
                            <a:srgbClr val="FFFFFF"/>
                          </a:solidFill>
                          <a:latin typeface="Calibri"/>
                        </a:rPr>
                        <a:t>#</a:t>
                      </a:r>
                    </a:p>
                  </a:txBody>
                  <a:tcPr marL="73152" marR="73152" marT="27432" marB="27432" anchor="ctr">
                    <a:solidFill>
                      <a:srgbClr val="C8423B"/>
                    </a:solidFill>
                  </a:tcPr>
                </a:tc>
                <a:tc>
                  <a:txBody>
                    <a:bodyPr wrap="square"/>
                    <a:lstStyle/>
                    <a:p>
                      <a:pPr algn="l"/>
                      <a:r>
                        <a:rPr sz="1050" b="1">
                          <a:solidFill>
                            <a:srgbClr val="FFFFFF"/>
                          </a:solidFill>
                          <a:latin typeface="Calibri"/>
                        </a:rPr>
                        <a:t>Company</a:t>
                      </a:r>
                    </a:p>
                  </a:txBody>
                  <a:tcPr marL="73152" marR="73152" marT="27432" marB="27432" anchor="ctr">
                    <a:solidFill>
                      <a:srgbClr val="C8423B"/>
                    </a:solidFill>
                  </a:tcPr>
                </a:tc>
                <a:tc>
                  <a:txBody>
                    <a:bodyPr wrap="square"/>
                    <a:lstStyle/>
                    <a:p>
                      <a:pPr algn="l"/>
                      <a:r>
                        <a:rPr sz="1050" b="1">
                          <a:solidFill>
                            <a:srgbClr val="FFFFFF"/>
                          </a:solidFill>
                          <a:latin typeface="Calibri"/>
                        </a:rPr>
                        <a:t>Sector</a:t>
                      </a:r>
                    </a:p>
                  </a:txBody>
                  <a:tcPr marL="73152" marR="73152" marT="27432" marB="27432" anchor="ctr">
                    <a:solidFill>
                      <a:srgbClr val="C8423B"/>
                    </a:solidFill>
                  </a:tcPr>
                </a:tc>
                <a:tc>
                  <a:txBody>
                    <a:bodyPr wrap="square"/>
                    <a:lstStyle/>
                    <a:p>
                      <a:pPr algn="l"/>
                      <a:r>
                        <a:rPr sz="1050" b="1">
                          <a:solidFill>
                            <a:srgbClr val="FFFFFF"/>
                          </a:solidFill>
                          <a:latin typeface="Calibri"/>
                        </a:rPr>
                        <a:t>Price €</a:t>
                      </a:r>
                    </a:p>
                  </a:txBody>
                  <a:tcPr marL="73152" marR="73152" marT="27432" marB="27432" anchor="ctr">
                    <a:solidFill>
                      <a:srgbClr val="C8423B"/>
                    </a:solidFill>
                  </a:tcPr>
                </a:tc>
                <a:tc>
                  <a:txBody>
                    <a:bodyPr wrap="square"/>
                    <a:lstStyle/>
                    <a:p>
                      <a:pPr algn="l"/>
                      <a:r>
                        <a:rPr sz="1050" b="1">
                          <a:solidFill>
                            <a:srgbClr val="FFFFFF"/>
                          </a:solidFill>
                          <a:latin typeface="Calibri"/>
                        </a:rPr>
                        <a:t>Beat CAC 40 *</a:t>
                      </a:r>
                    </a:p>
                  </a:txBody>
                  <a:tcPr marL="73152" marR="73152" marT="27432" marB="27432" anchor="ctr">
                    <a:solidFill>
                      <a:srgbClr val="C8423B"/>
                    </a:solidFill>
                  </a:tcPr>
                </a:tc>
                <a:tc>
                  <a:txBody>
                    <a:bodyPr wrap="square"/>
                    <a:lstStyle/>
                    <a:p>
                      <a:pPr algn="l"/>
                      <a:r>
                        <a:rPr sz="1050" b="1">
                          <a:solidFill>
                            <a:srgbClr val="FFFFFF"/>
                          </a:solidFill>
                          <a:latin typeface="Calibri"/>
                        </a:rPr>
                        <a:t>Key facts the model saw</a:t>
                      </a:r>
                    </a:p>
                  </a:txBody>
                  <a:tcPr marL="73152" marR="73152" marT="27432" marB="27432" anchor="ctr">
                    <a:solidFill>
                      <a:srgbClr val="C8423B"/>
                    </a:solidFill>
                  </a:tcPr>
                </a:tc>
              </a:tr>
              <a:tr h="457200">
                <a:tc>
                  <a:txBody>
                    <a:bodyPr wrap="square"/>
                    <a:lstStyle/>
                    <a:p>
                      <a:pPr algn="l"/>
                      <a:r>
                        <a:rPr sz="1050" b="0">
                          <a:solidFill>
                            <a:srgbClr val="14212B"/>
                          </a:solidFill>
                          <a:latin typeface="Calibri"/>
                        </a:rPr>
                        <a:t>1</a:t>
                      </a:r>
                    </a:p>
                  </a:txBody>
                  <a:tcPr marL="73152" marR="73152" marT="27432" marB="27432" anchor="ctr">
                    <a:solidFill>
                      <a:srgbClr val="FFFFFF"/>
                    </a:solidFill>
                  </a:tcPr>
                </a:tc>
                <a:tc>
                  <a:txBody>
                    <a:bodyPr wrap="square"/>
                    <a:lstStyle/>
                    <a:p>
                      <a:pPr algn="l"/>
                      <a:r>
                        <a:rPr sz="1050" b="1">
                          <a:solidFill>
                            <a:srgbClr val="14212B"/>
                          </a:solidFill>
                          <a:latin typeface="Calibri"/>
                        </a:rPr>
                        <a:t>Exail Technologies</a:t>
                      </a:r>
                    </a:p>
                  </a:txBody>
                  <a:tcPr marL="73152" marR="73152" marT="27432" marB="27432" anchor="ctr">
                    <a:solidFill>
                      <a:srgbClr val="FFFFFF"/>
                    </a:solidFill>
                  </a:tcPr>
                </a:tc>
                <a:tc>
                  <a:txBody>
                    <a:bodyPr wrap="square"/>
                    <a:lstStyle/>
                    <a:p>
                      <a:pPr algn="l"/>
                      <a:r>
                        <a:rPr sz="1050" b="0">
                          <a:solidFill>
                            <a:srgbClr val="14212B"/>
                          </a:solidFill>
                          <a:latin typeface="Calibri"/>
                        </a:rPr>
                        <a:t>Aerospace &amp; Defense</a:t>
                      </a:r>
                    </a:p>
                  </a:txBody>
                  <a:tcPr marL="73152" marR="73152" marT="27432" marB="27432" anchor="ctr">
                    <a:solidFill>
                      <a:srgbClr val="FFFFFF"/>
                    </a:solidFill>
                  </a:tcPr>
                </a:tc>
                <a:tc>
                  <a:txBody>
                    <a:bodyPr wrap="square"/>
                    <a:lstStyle/>
                    <a:p>
                      <a:pPr algn="l"/>
                      <a:r>
                        <a:rPr sz="1050" b="0">
                          <a:solidFill>
                            <a:srgbClr val="14212B"/>
                          </a:solidFill>
                          <a:latin typeface="Calibri"/>
                        </a:rPr>
                        <a:t>125.30</a:t>
                      </a:r>
                    </a:p>
                  </a:txBody>
                  <a:tcPr marL="73152" marR="73152" marT="27432" marB="27432" anchor="ctr">
                    <a:solidFill>
                      <a:srgbClr val="FFFFFF"/>
                    </a:solidFill>
                  </a:tcPr>
                </a:tc>
                <a:tc>
                  <a:txBody>
                    <a:bodyPr wrap="square"/>
                    <a:lstStyle/>
                    <a:p>
                      <a:pPr algn="l"/>
                      <a:r>
                        <a:rPr sz="1050" b="0">
                          <a:solidFill>
                            <a:srgbClr val="14212B"/>
                          </a:solidFill>
                          <a:latin typeface="Calibri"/>
                        </a:rPr>
                        <a:t>43%</a:t>
                      </a:r>
                    </a:p>
                  </a:txBody>
                  <a:tcPr marL="73152" marR="73152" marT="27432" marB="27432" anchor="ctr">
                    <a:solidFill>
                      <a:srgbClr val="FFFFFF"/>
                    </a:solidFill>
                  </a:tcPr>
                </a:tc>
                <a:tc>
                  <a:txBody>
                    <a:bodyPr wrap="square"/>
                    <a:lstStyle/>
                    <a:p>
                      <a:pPr algn="l"/>
                      <a:r>
                        <a:rPr sz="950" b="0">
                          <a:solidFill>
                            <a:srgbClr val="14212B"/>
                          </a:solidFill>
                          <a:latin typeface="Calibri"/>
                        </a:rPr>
                        <a:t>+5.2% vs CAC 40 over 1 month; RSI 67; above 200-day average.</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2</a:t>
                      </a:r>
                    </a:p>
                  </a:txBody>
                  <a:tcPr marL="73152" marR="73152" marT="27432" marB="27432" anchor="ctr">
                    <a:solidFill>
                      <a:srgbClr val="F1F4F6"/>
                    </a:solidFill>
                  </a:tcPr>
                </a:tc>
                <a:tc>
                  <a:txBody>
                    <a:bodyPr wrap="square"/>
                    <a:lstStyle/>
                    <a:p>
                      <a:pPr algn="l"/>
                      <a:r>
                        <a:rPr sz="1050" b="1">
                          <a:solidFill>
                            <a:srgbClr val="14212B"/>
                          </a:solidFill>
                          <a:latin typeface="Calibri"/>
                        </a:rPr>
                        <a:t>Capital B</a:t>
                      </a:r>
                    </a:p>
                  </a:txBody>
                  <a:tcPr marL="73152" marR="73152" marT="27432" marB="27432" anchor="ctr">
                    <a:solidFill>
                      <a:srgbClr val="F1F4F6"/>
                    </a:solidFill>
                  </a:tcPr>
                </a:tc>
                <a:tc>
                  <a:txBody>
                    <a:bodyPr wrap="square"/>
                    <a:lstStyle/>
                    <a:p>
                      <a:pPr algn="l"/>
                      <a:r>
                        <a:rPr sz="1050" b="0">
                          <a:solidFill>
                            <a:srgbClr val="14212B"/>
                          </a:solidFill>
                          <a:latin typeface="Calibri"/>
                        </a:rPr>
                        <a:t>Technology</a:t>
                      </a:r>
                    </a:p>
                  </a:txBody>
                  <a:tcPr marL="73152" marR="73152" marT="27432" marB="27432" anchor="ctr">
                    <a:solidFill>
                      <a:srgbClr val="F1F4F6"/>
                    </a:solidFill>
                  </a:tcPr>
                </a:tc>
                <a:tc>
                  <a:txBody>
                    <a:bodyPr wrap="square"/>
                    <a:lstStyle/>
                    <a:p>
                      <a:pPr algn="l"/>
                      <a:r>
                        <a:rPr sz="1050" b="0">
                          <a:solidFill>
                            <a:srgbClr val="14212B"/>
                          </a:solidFill>
                          <a:latin typeface="Calibri"/>
                        </a:rPr>
                        <a:t>5.95</a:t>
                      </a:r>
                    </a:p>
                  </a:txBody>
                  <a:tcPr marL="73152" marR="73152" marT="27432" marB="27432" anchor="ctr">
                    <a:solidFill>
                      <a:srgbClr val="F1F4F6"/>
                    </a:solidFill>
                  </a:tcPr>
                </a:tc>
                <a:tc>
                  <a:txBody>
                    <a:bodyPr wrap="square"/>
                    <a:lstStyle/>
                    <a:p>
                      <a:pPr algn="l"/>
                      <a:r>
                        <a:rPr sz="1050" b="0">
                          <a:solidFill>
                            <a:srgbClr val="14212B"/>
                          </a:solidFill>
                          <a:latin typeface="Calibri"/>
                        </a:rPr>
                        <a:t>43%</a:t>
                      </a:r>
                    </a:p>
                  </a:txBody>
                  <a:tcPr marL="73152" marR="73152" marT="27432" marB="27432" anchor="ctr">
                    <a:solidFill>
                      <a:srgbClr val="F1F4F6"/>
                    </a:solidFill>
                  </a:tcPr>
                </a:tc>
                <a:tc>
                  <a:txBody>
                    <a:bodyPr wrap="square"/>
                    <a:lstStyle/>
                    <a:p>
                      <a:pPr algn="l"/>
                      <a:r>
                        <a:rPr sz="950" b="0">
                          <a:solidFill>
                            <a:srgbClr val="14212B"/>
                          </a:solidFill>
                          <a:latin typeface="Calibri"/>
                        </a:rPr>
                        <a:t>+20.6% vs CAC 40 over 1 month; RSI 64; below 200-day average.</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3</a:t>
                      </a:r>
                    </a:p>
                  </a:txBody>
                  <a:tcPr marL="73152" marR="73152" marT="27432" marB="27432" anchor="ctr">
                    <a:solidFill>
                      <a:srgbClr val="FFFFFF"/>
                    </a:solidFill>
                  </a:tcPr>
                </a:tc>
                <a:tc>
                  <a:txBody>
                    <a:bodyPr wrap="square"/>
                    <a:lstStyle/>
                    <a:p>
                      <a:pPr algn="l"/>
                      <a:r>
                        <a:rPr sz="1050" b="1">
                          <a:solidFill>
                            <a:srgbClr val="14212B"/>
                          </a:solidFill>
                          <a:latin typeface="Calibri"/>
                        </a:rPr>
                        <a:t>Schneider Electric S.E.</a:t>
                      </a:r>
                    </a:p>
                  </a:txBody>
                  <a:tcPr marL="73152" marR="73152" marT="27432" marB="27432" anchor="ctr">
                    <a:solidFill>
                      <a:srgbClr val="FFFFFF"/>
                    </a:solidFill>
                  </a:tcPr>
                </a:tc>
                <a:tc>
                  <a:txBody>
                    <a:bodyPr wrap="square"/>
                    <a:lstStyle/>
                    <a:p>
                      <a:pPr algn="l"/>
                      <a:r>
                        <a:rPr sz="1050" b="0">
                          <a:solidFill>
                            <a:srgbClr val="14212B"/>
                          </a:solidFill>
                          <a:latin typeface="Calibri"/>
                        </a:rPr>
                        <a:t>Industrials</a:t>
                      </a:r>
                    </a:p>
                  </a:txBody>
                  <a:tcPr marL="73152" marR="73152" marT="27432" marB="27432" anchor="ctr">
                    <a:solidFill>
                      <a:srgbClr val="FFFFFF"/>
                    </a:solidFill>
                  </a:tcPr>
                </a:tc>
                <a:tc>
                  <a:txBody>
                    <a:bodyPr wrap="square"/>
                    <a:lstStyle/>
                    <a:p>
                      <a:pPr algn="l"/>
                      <a:r>
                        <a:rPr sz="1050" b="0">
                          <a:solidFill>
                            <a:srgbClr val="14212B"/>
                          </a:solidFill>
                          <a:latin typeface="Calibri"/>
                        </a:rPr>
                        <a:t>300.15</a:t>
                      </a:r>
                    </a:p>
                  </a:txBody>
                  <a:tcPr marL="73152" marR="73152" marT="27432" marB="27432" anchor="ctr">
                    <a:solidFill>
                      <a:srgbClr val="FFFFFF"/>
                    </a:solidFill>
                  </a:tcPr>
                </a:tc>
                <a:tc>
                  <a:txBody>
                    <a:bodyPr wrap="square"/>
                    <a:lstStyle/>
                    <a:p>
                      <a:pPr algn="l"/>
                      <a:r>
                        <a:rPr sz="1050" b="0">
                          <a:solidFill>
                            <a:srgbClr val="14212B"/>
                          </a:solidFill>
                          <a:latin typeface="Calibri"/>
                        </a:rPr>
                        <a:t>44%</a:t>
                      </a:r>
                    </a:p>
                  </a:txBody>
                  <a:tcPr marL="73152" marR="73152" marT="27432" marB="27432" anchor="ctr">
                    <a:solidFill>
                      <a:srgbClr val="FFFFFF"/>
                    </a:solidFill>
                  </a:tcPr>
                </a:tc>
                <a:tc>
                  <a:txBody>
                    <a:bodyPr wrap="square"/>
                    <a:lstStyle/>
                    <a:p>
                      <a:pPr algn="l"/>
                      <a:r>
                        <a:rPr sz="950" b="0">
                          <a:solidFill>
                            <a:srgbClr val="14212B"/>
                          </a:solidFill>
                          <a:latin typeface="Calibri"/>
                        </a:rPr>
                        <a:t>+8.6% vs CAC 40 over 1 month; RSI 78 (overbought); above 200-day average. News +0.1: Schneider Electric made a 0.21% progression in the stock market</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4</a:t>
                      </a:r>
                    </a:p>
                  </a:txBody>
                  <a:tcPr marL="73152" marR="73152" marT="27432" marB="27432" anchor="ctr">
                    <a:solidFill>
                      <a:srgbClr val="F1F4F6"/>
                    </a:solidFill>
                  </a:tcPr>
                </a:tc>
                <a:tc>
                  <a:txBody>
                    <a:bodyPr wrap="square"/>
                    <a:lstStyle/>
                    <a:p>
                      <a:pPr algn="l"/>
                      <a:r>
                        <a:rPr sz="1050" b="1">
                          <a:solidFill>
                            <a:srgbClr val="14212B"/>
                          </a:solidFill>
                          <a:latin typeface="Calibri"/>
                        </a:rPr>
                        <a:t>Mersen</a:t>
                      </a:r>
                    </a:p>
                  </a:txBody>
                  <a:tcPr marL="73152" marR="73152" marT="27432" marB="27432" anchor="ctr">
                    <a:solidFill>
                      <a:srgbClr val="F1F4F6"/>
                    </a:solidFill>
                  </a:tcPr>
                </a:tc>
                <a:tc>
                  <a:txBody>
                    <a:bodyPr wrap="square"/>
                    <a:lstStyle/>
                    <a:p>
                      <a:pPr algn="l"/>
                      <a:r>
                        <a:rPr sz="1050" b="0">
                          <a:solidFill>
                            <a:srgbClr val="14212B"/>
                          </a:solidFill>
                          <a:latin typeface="Calibri"/>
                        </a:rPr>
                        <a:t>Industrials</a:t>
                      </a:r>
                    </a:p>
                  </a:txBody>
                  <a:tcPr marL="73152" marR="73152" marT="27432" marB="27432" anchor="ctr">
                    <a:solidFill>
                      <a:srgbClr val="F1F4F6"/>
                    </a:solidFill>
                  </a:tcPr>
                </a:tc>
                <a:tc>
                  <a:txBody>
                    <a:bodyPr wrap="square"/>
                    <a:lstStyle/>
                    <a:p>
                      <a:pPr algn="l"/>
                      <a:r>
                        <a:rPr sz="1050" b="0">
                          <a:solidFill>
                            <a:srgbClr val="14212B"/>
                          </a:solidFill>
                          <a:latin typeface="Calibri"/>
                        </a:rPr>
                        <a:t>42.42</a:t>
                      </a:r>
                    </a:p>
                  </a:txBody>
                  <a:tcPr marL="73152" marR="73152" marT="27432" marB="27432" anchor="ctr">
                    <a:solidFill>
                      <a:srgbClr val="F1F4F6"/>
                    </a:solidFill>
                  </a:tcPr>
                </a:tc>
                <a:tc>
                  <a:txBody>
                    <a:bodyPr wrap="square"/>
                    <a:lstStyle/>
                    <a:p>
                      <a:pPr algn="l"/>
                      <a:r>
                        <a:rPr sz="1050" b="0">
                          <a:solidFill>
                            <a:srgbClr val="14212B"/>
                          </a:solidFill>
                          <a:latin typeface="Calibri"/>
                        </a:rPr>
                        <a:t>45%</a:t>
                      </a:r>
                    </a:p>
                  </a:txBody>
                  <a:tcPr marL="73152" marR="73152" marT="27432" marB="27432" anchor="ctr">
                    <a:solidFill>
                      <a:srgbClr val="F1F4F6"/>
                    </a:solidFill>
                  </a:tcPr>
                </a:tc>
                <a:tc>
                  <a:txBody>
                    <a:bodyPr wrap="square"/>
                    <a:lstStyle/>
                    <a:p>
                      <a:pPr algn="l"/>
                      <a:r>
                        <a:rPr sz="950" b="0">
                          <a:solidFill>
                            <a:srgbClr val="14212B"/>
                          </a:solidFill>
                          <a:latin typeface="Calibri"/>
                        </a:rPr>
                        <a:t>+16.8% vs CAC 40 over 1 month; RSI 78 (overbought); above 200-day average.</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5</a:t>
                      </a:r>
                    </a:p>
                  </a:txBody>
                  <a:tcPr marL="73152" marR="73152" marT="27432" marB="27432" anchor="ctr">
                    <a:solidFill>
                      <a:srgbClr val="FFFFFF"/>
                    </a:solidFill>
                  </a:tcPr>
                </a:tc>
                <a:tc>
                  <a:txBody>
                    <a:bodyPr wrap="square"/>
                    <a:lstStyle/>
                    <a:p>
                      <a:pPr algn="l"/>
                      <a:r>
                        <a:rPr sz="1050" b="1">
                          <a:solidFill>
                            <a:srgbClr val="14212B"/>
                          </a:solidFill>
                          <a:latin typeface="Calibri"/>
                        </a:rPr>
                        <a:t>Legrand</a:t>
                      </a:r>
                    </a:p>
                  </a:txBody>
                  <a:tcPr marL="73152" marR="73152" marT="27432" marB="27432" anchor="ctr">
                    <a:solidFill>
                      <a:srgbClr val="FFFFFF"/>
                    </a:solidFill>
                  </a:tcPr>
                </a:tc>
                <a:tc>
                  <a:txBody>
                    <a:bodyPr wrap="square"/>
                    <a:lstStyle/>
                    <a:p>
                      <a:pPr algn="l"/>
                      <a:r>
                        <a:rPr sz="1050" b="0">
                          <a:solidFill>
                            <a:srgbClr val="14212B"/>
                          </a:solidFill>
                          <a:latin typeface="Calibri"/>
                        </a:rPr>
                        <a:t>Industrials</a:t>
                      </a:r>
                    </a:p>
                  </a:txBody>
                  <a:tcPr marL="73152" marR="73152" marT="27432" marB="27432" anchor="ctr">
                    <a:solidFill>
                      <a:srgbClr val="FFFFFF"/>
                    </a:solidFill>
                  </a:tcPr>
                </a:tc>
                <a:tc>
                  <a:txBody>
                    <a:bodyPr wrap="square"/>
                    <a:lstStyle/>
                    <a:p>
                      <a:pPr algn="l"/>
                      <a:r>
                        <a:rPr sz="1050" b="0">
                          <a:solidFill>
                            <a:srgbClr val="14212B"/>
                          </a:solidFill>
                          <a:latin typeface="Calibri"/>
                        </a:rPr>
                        <a:t>143.70</a:t>
                      </a:r>
                    </a:p>
                  </a:txBody>
                  <a:tcPr marL="73152" marR="73152" marT="27432" marB="27432" anchor="ctr">
                    <a:solidFill>
                      <a:srgbClr val="FFFFFF"/>
                    </a:solidFill>
                  </a:tcPr>
                </a:tc>
                <a:tc>
                  <a:txBody>
                    <a:bodyPr wrap="square"/>
                    <a:lstStyle/>
                    <a:p>
                      <a:pPr algn="l"/>
                      <a:r>
                        <a:rPr sz="1050" b="0">
                          <a:solidFill>
                            <a:srgbClr val="14212B"/>
                          </a:solidFill>
                          <a:latin typeface="Calibri"/>
                        </a:rPr>
                        <a:t>45%</a:t>
                      </a:r>
                    </a:p>
                  </a:txBody>
                  <a:tcPr marL="73152" marR="73152" marT="27432" marB="27432" anchor="ctr">
                    <a:solidFill>
                      <a:srgbClr val="FFFFFF"/>
                    </a:solidFill>
                  </a:tcPr>
                </a:tc>
                <a:tc>
                  <a:txBody>
                    <a:bodyPr wrap="square"/>
                    <a:lstStyle/>
                    <a:p>
                      <a:pPr algn="l"/>
                      <a:r>
                        <a:rPr sz="950" b="0">
                          <a:solidFill>
                            <a:srgbClr val="14212B"/>
                          </a:solidFill>
                          <a:latin typeface="Calibri"/>
                        </a:rPr>
                        <a:t>+6.4% vs CAC 40 over 1 month; RSI 69; above 200-day average. News +0.7: Analyst Evercore ISI has upgraded Legrand's rating to outperform with a price target of 175 EUR</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6</a:t>
                      </a:r>
                    </a:p>
                  </a:txBody>
                  <a:tcPr marL="73152" marR="73152" marT="27432" marB="27432" anchor="ctr">
                    <a:solidFill>
                      <a:srgbClr val="F1F4F6"/>
                    </a:solidFill>
                  </a:tcPr>
                </a:tc>
                <a:tc>
                  <a:txBody>
                    <a:bodyPr wrap="square"/>
                    <a:lstStyle/>
                    <a:p>
                      <a:pPr algn="l"/>
                      <a:r>
                        <a:rPr sz="1050" b="1">
                          <a:solidFill>
                            <a:srgbClr val="14212B"/>
                          </a:solidFill>
                          <a:latin typeface="Calibri"/>
                        </a:rPr>
                        <a:t>FDJ United</a:t>
                      </a:r>
                    </a:p>
                  </a:txBody>
                  <a:tcPr marL="73152" marR="73152" marT="27432" marB="27432" anchor="ctr">
                    <a:solidFill>
                      <a:srgbClr val="F1F4F6"/>
                    </a:solidFill>
                  </a:tcPr>
                </a:tc>
                <a:tc>
                  <a:txBody>
                    <a:bodyPr wrap="square"/>
                    <a:lstStyle/>
                    <a:p>
                      <a:pPr algn="l"/>
                      <a:r>
                        <a:rPr sz="1050" b="0">
                          <a:solidFill>
                            <a:srgbClr val="14212B"/>
                          </a:solidFill>
                          <a:latin typeface="Calibri"/>
                        </a:rPr>
                        <a:t>Consumer Cyclical</a:t>
                      </a:r>
                    </a:p>
                  </a:txBody>
                  <a:tcPr marL="73152" marR="73152" marT="27432" marB="27432" anchor="ctr">
                    <a:solidFill>
                      <a:srgbClr val="F1F4F6"/>
                    </a:solidFill>
                  </a:tcPr>
                </a:tc>
                <a:tc>
                  <a:txBody>
                    <a:bodyPr wrap="square"/>
                    <a:lstStyle/>
                    <a:p>
                      <a:pPr algn="l"/>
                      <a:r>
                        <a:rPr sz="1050" b="0">
                          <a:solidFill>
                            <a:srgbClr val="14212B"/>
                          </a:solidFill>
                          <a:latin typeface="Calibri"/>
                        </a:rPr>
                        <a:t>20.68</a:t>
                      </a:r>
                    </a:p>
                  </a:txBody>
                  <a:tcPr marL="73152" marR="73152" marT="27432" marB="27432" anchor="ctr">
                    <a:solidFill>
                      <a:srgbClr val="F1F4F6"/>
                    </a:solidFill>
                  </a:tcPr>
                </a:tc>
                <a:tc>
                  <a:txBody>
                    <a:bodyPr wrap="square"/>
                    <a:lstStyle/>
                    <a:p>
                      <a:pPr algn="l"/>
                      <a:r>
                        <a:rPr sz="1050" b="0">
                          <a:solidFill>
                            <a:srgbClr val="14212B"/>
                          </a:solidFill>
                          <a:latin typeface="Calibri"/>
                        </a:rPr>
                        <a:t>46%</a:t>
                      </a:r>
                    </a:p>
                  </a:txBody>
                  <a:tcPr marL="73152" marR="73152" marT="27432" marB="27432" anchor="ctr">
                    <a:solidFill>
                      <a:srgbClr val="F1F4F6"/>
                    </a:solidFill>
                  </a:tcPr>
                </a:tc>
                <a:tc>
                  <a:txBody>
                    <a:bodyPr wrap="square"/>
                    <a:lstStyle/>
                    <a:p>
                      <a:pPr algn="l"/>
                      <a:r>
                        <a:rPr sz="950" b="0">
                          <a:solidFill>
                            <a:srgbClr val="14212B"/>
                          </a:solidFill>
                          <a:latin typeface="Calibri"/>
                        </a:rPr>
                        <a:t>-2.8% vs CAC 40 over 1 month; RSI 15 (oversold); below 200-day average. World-news headwind (Consumer Cyclical).</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7</a:t>
                      </a:r>
                    </a:p>
                  </a:txBody>
                  <a:tcPr marL="73152" marR="73152" marT="27432" marB="27432" anchor="ctr">
                    <a:solidFill>
                      <a:srgbClr val="FFFFFF"/>
                    </a:solidFill>
                  </a:tcPr>
                </a:tc>
                <a:tc>
                  <a:txBody>
                    <a:bodyPr wrap="square"/>
                    <a:lstStyle/>
                    <a:p>
                      <a:pPr algn="l"/>
                      <a:r>
                        <a:rPr sz="1050" b="1">
                          <a:solidFill>
                            <a:srgbClr val="14212B"/>
                          </a:solidFill>
                          <a:latin typeface="Calibri"/>
                        </a:rPr>
                        <a:t>X-FAB Silicon Foundries</a:t>
                      </a:r>
                    </a:p>
                  </a:txBody>
                  <a:tcPr marL="73152" marR="73152" marT="27432" marB="27432" anchor="ctr">
                    <a:solidFill>
                      <a:srgbClr val="FFFFFF"/>
                    </a:solidFill>
                  </a:tcPr>
                </a:tc>
                <a:tc>
                  <a:txBody>
                    <a:bodyPr wrap="square"/>
                    <a:lstStyle/>
                    <a:p>
                      <a:pPr algn="l"/>
                      <a:r>
                        <a:rPr sz="1050" b="0">
                          <a:solidFill>
                            <a:srgbClr val="14212B"/>
                          </a:solidFill>
                          <a:latin typeface="Calibri"/>
                        </a:rPr>
                        <a:t>Technology</a:t>
                      </a:r>
                    </a:p>
                  </a:txBody>
                  <a:tcPr marL="73152" marR="73152" marT="27432" marB="27432" anchor="ctr">
                    <a:solidFill>
                      <a:srgbClr val="FFFFFF"/>
                    </a:solidFill>
                  </a:tcPr>
                </a:tc>
                <a:tc>
                  <a:txBody>
                    <a:bodyPr wrap="square"/>
                    <a:lstStyle/>
                    <a:p>
                      <a:pPr algn="l"/>
                      <a:r>
                        <a:rPr sz="1050" b="0">
                          <a:solidFill>
                            <a:srgbClr val="14212B"/>
                          </a:solidFill>
                          <a:latin typeface="Calibri"/>
                        </a:rPr>
                        <a:t>6.89</a:t>
                      </a:r>
                    </a:p>
                  </a:txBody>
                  <a:tcPr marL="73152" marR="73152" marT="27432" marB="27432" anchor="ctr">
                    <a:solidFill>
                      <a:srgbClr val="FFFFFF"/>
                    </a:solidFill>
                  </a:tcPr>
                </a:tc>
                <a:tc>
                  <a:txBody>
                    <a:bodyPr wrap="square"/>
                    <a:lstStyle/>
                    <a:p>
                      <a:pPr algn="l"/>
                      <a:r>
                        <a:rPr sz="1050" b="0">
                          <a:solidFill>
                            <a:srgbClr val="14212B"/>
                          </a:solidFill>
                          <a:latin typeface="Calibri"/>
                        </a:rPr>
                        <a:t>46%</a:t>
                      </a:r>
                    </a:p>
                  </a:txBody>
                  <a:tcPr marL="73152" marR="73152" marT="27432" marB="27432" anchor="ctr">
                    <a:solidFill>
                      <a:srgbClr val="FFFFFF"/>
                    </a:solidFill>
                  </a:tcPr>
                </a:tc>
                <a:tc>
                  <a:txBody>
                    <a:bodyPr wrap="square"/>
                    <a:lstStyle/>
                    <a:p>
                      <a:pPr algn="l"/>
                      <a:r>
                        <a:rPr sz="950" b="0">
                          <a:solidFill>
                            <a:srgbClr val="14212B"/>
                          </a:solidFill>
                          <a:latin typeface="Calibri"/>
                        </a:rPr>
                        <a:t>+18.4% vs CAC 40 over 1 month; RSI 70 (overbought); above 200-day average.</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8</a:t>
                      </a:r>
                    </a:p>
                  </a:txBody>
                  <a:tcPr marL="73152" marR="73152" marT="27432" marB="27432" anchor="ctr">
                    <a:solidFill>
                      <a:srgbClr val="F1F4F6"/>
                    </a:solidFill>
                  </a:tcPr>
                </a:tc>
                <a:tc>
                  <a:txBody>
                    <a:bodyPr wrap="square"/>
                    <a:lstStyle/>
                    <a:p>
                      <a:pPr algn="l"/>
                      <a:r>
                        <a:rPr sz="1050" b="1">
                          <a:solidFill>
                            <a:srgbClr val="14212B"/>
                          </a:solidFill>
                          <a:latin typeface="Calibri"/>
                        </a:rPr>
                        <a:t>STMicroelectronics</a:t>
                      </a:r>
                    </a:p>
                  </a:txBody>
                  <a:tcPr marL="73152" marR="73152" marT="27432" marB="27432" anchor="ctr">
                    <a:solidFill>
                      <a:srgbClr val="F1F4F6"/>
                    </a:solidFill>
                  </a:tcPr>
                </a:tc>
                <a:tc>
                  <a:txBody>
                    <a:bodyPr wrap="square"/>
                    <a:lstStyle/>
                    <a:p>
                      <a:pPr algn="l"/>
                      <a:r>
                        <a:rPr sz="1050" b="0">
                          <a:solidFill>
                            <a:srgbClr val="14212B"/>
                          </a:solidFill>
                          <a:latin typeface="Calibri"/>
                        </a:rPr>
                        <a:t>Technology</a:t>
                      </a:r>
                    </a:p>
                  </a:txBody>
                  <a:tcPr marL="73152" marR="73152" marT="27432" marB="27432" anchor="ctr">
                    <a:solidFill>
                      <a:srgbClr val="F1F4F6"/>
                    </a:solidFill>
                  </a:tcPr>
                </a:tc>
                <a:tc>
                  <a:txBody>
                    <a:bodyPr wrap="square"/>
                    <a:lstStyle/>
                    <a:p>
                      <a:pPr algn="l"/>
                      <a:r>
                        <a:rPr sz="1050" b="0">
                          <a:solidFill>
                            <a:srgbClr val="14212B"/>
                          </a:solidFill>
                          <a:latin typeface="Calibri"/>
                        </a:rPr>
                        <a:t>48.58</a:t>
                      </a:r>
                    </a:p>
                  </a:txBody>
                  <a:tcPr marL="73152" marR="73152" marT="27432" marB="27432" anchor="ctr">
                    <a:solidFill>
                      <a:srgbClr val="F1F4F6"/>
                    </a:solidFill>
                  </a:tcPr>
                </a:tc>
                <a:tc>
                  <a:txBody>
                    <a:bodyPr wrap="square"/>
                    <a:lstStyle/>
                    <a:p>
                      <a:pPr algn="l"/>
                      <a:r>
                        <a:rPr sz="1050" b="0">
                          <a:solidFill>
                            <a:srgbClr val="14212B"/>
                          </a:solidFill>
                          <a:latin typeface="Calibri"/>
                        </a:rPr>
                        <a:t>47%</a:t>
                      </a:r>
                    </a:p>
                  </a:txBody>
                  <a:tcPr marL="73152" marR="73152" marT="27432" marB="27432" anchor="ctr">
                    <a:solidFill>
                      <a:srgbClr val="F1F4F6"/>
                    </a:solidFill>
                  </a:tcPr>
                </a:tc>
                <a:tc>
                  <a:txBody>
                    <a:bodyPr wrap="square"/>
                    <a:lstStyle/>
                    <a:p>
                      <a:pPr algn="l"/>
                      <a:r>
                        <a:rPr sz="950" b="0">
                          <a:solidFill>
                            <a:srgbClr val="14212B"/>
                          </a:solidFill>
                          <a:latin typeface="Calibri"/>
                        </a:rPr>
                        <a:t>+13.1% vs CAC 40 over 1 month; RSI 81 (overbought); above 200-day average. News +0.5: Analyst Jefferies is optimistic about STMicroelectronics N.V.</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9</a:t>
                      </a:r>
                    </a:p>
                  </a:txBody>
                  <a:tcPr marL="73152" marR="73152" marT="27432" marB="27432" anchor="ctr">
                    <a:solidFill>
                      <a:srgbClr val="FFFFFF"/>
                    </a:solidFill>
                  </a:tcPr>
                </a:tc>
                <a:tc>
                  <a:txBody>
                    <a:bodyPr wrap="square"/>
                    <a:lstStyle/>
                    <a:p>
                      <a:pPr algn="l"/>
                      <a:r>
                        <a:rPr sz="1050" b="1">
                          <a:solidFill>
                            <a:srgbClr val="14212B"/>
                          </a:solidFill>
                          <a:latin typeface="Calibri"/>
                        </a:rPr>
                        <a:t>Compagnie Odet</a:t>
                      </a:r>
                    </a:p>
                  </a:txBody>
                  <a:tcPr marL="73152" marR="73152" marT="27432" marB="27432" anchor="ctr">
                    <a:solidFill>
                      <a:srgbClr val="FFFFFF"/>
                    </a:solidFill>
                  </a:tcPr>
                </a:tc>
                <a:tc>
                  <a:txBody>
                    <a:bodyPr wrap="square"/>
                    <a:lstStyle/>
                    <a:p>
                      <a:pPr algn="l"/>
                      <a:r>
                        <a:rPr sz="1050" b="0">
                          <a:solidFill>
                            <a:srgbClr val="14212B"/>
                          </a:solidFill>
                          <a:latin typeface="Calibri"/>
                        </a:rPr>
                        <a:t>—</a:t>
                      </a:r>
                    </a:p>
                  </a:txBody>
                  <a:tcPr marL="73152" marR="73152" marT="27432" marB="27432" anchor="ctr">
                    <a:solidFill>
                      <a:srgbClr val="FFFFFF"/>
                    </a:solidFill>
                  </a:tcPr>
                </a:tc>
                <a:tc>
                  <a:txBody>
                    <a:bodyPr wrap="square"/>
                    <a:lstStyle/>
                    <a:p>
                      <a:pPr algn="l"/>
                      <a:r>
                        <a:rPr sz="1050" b="0">
                          <a:solidFill>
                            <a:srgbClr val="14212B"/>
                          </a:solidFill>
                          <a:latin typeface="Calibri"/>
                        </a:rPr>
                        <a:t>1,012.00</a:t>
                      </a:r>
                    </a:p>
                  </a:txBody>
                  <a:tcPr marL="73152" marR="73152" marT="27432" marB="27432" anchor="ctr">
                    <a:solidFill>
                      <a:srgbClr val="FFFFFF"/>
                    </a:solidFill>
                  </a:tcPr>
                </a:tc>
                <a:tc>
                  <a:txBody>
                    <a:bodyPr wrap="square"/>
                    <a:lstStyle/>
                    <a:p>
                      <a:pPr algn="l"/>
                      <a:r>
                        <a:rPr sz="1050" b="0">
                          <a:solidFill>
                            <a:srgbClr val="14212B"/>
                          </a:solidFill>
                          <a:latin typeface="Calibri"/>
                        </a:rPr>
                        <a:t>47%</a:t>
                      </a:r>
                    </a:p>
                  </a:txBody>
                  <a:tcPr marL="73152" marR="73152" marT="27432" marB="27432" anchor="ctr">
                    <a:solidFill>
                      <a:srgbClr val="FFFFFF"/>
                    </a:solidFill>
                  </a:tcPr>
                </a:tc>
                <a:tc>
                  <a:txBody>
                    <a:bodyPr wrap="square"/>
                    <a:lstStyle/>
                    <a:p>
                      <a:pPr algn="l"/>
                      <a:r>
                        <a:rPr sz="950" b="0">
                          <a:solidFill>
                            <a:srgbClr val="14212B"/>
                          </a:solidFill>
                          <a:latin typeface="Calibri"/>
                        </a:rPr>
                        <a:t>+13.8% vs CAC 40 over 1 month; RSI 78 (overbought); above 200-day average.</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10</a:t>
                      </a:r>
                    </a:p>
                  </a:txBody>
                  <a:tcPr marL="73152" marR="73152" marT="27432" marB="27432" anchor="ctr">
                    <a:solidFill>
                      <a:srgbClr val="F1F4F6"/>
                    </a:solidFill>
                  </a:tcPr>
                </a:tc>
                <a:tc>
                  <a:txBody>
                    <a:bodyPr wrap="square"/>
                    <a:lstStyle/>
                    <a:p>
                      <a:pPr algn="l"/>
                      <a:r>
                        <a:rPr sz="1050" b="1">
                          <a:solidFill>
                            <a:srgbClr val="14212B"/>
                          </a:solidFill>
                          <a:latin typeface="Calibri"/>
                        </a:rPr>
                        <a:t>TF1</a:t>
                      </a:r>
                    </a:p>
                  </a:txBody>
                  <a:tcPr marL="73152" marR="73152" marT="27432" marB="27432" anchor="ctr">
                    <a:solidFill>
                      <a:srgbClr val="F1F4F6"/>
                    </a:solidFill>
                  </a:tcPr>
                </a:tc>
                <a:tc>
                  <a:txBody>
                    <a:bodyPr wrap="square"/>
                    <a:lstStyle/>
                    <a:p>
                      <a:pPr algn="l"/>
                      <a:r>
                        <a:rPr sz="1050" b="0">
                          <a:solidFill>
                            <a:srgbClr val="14212B"/>
                          </a:solidFill>
                          <a:latin typeface="Calibri"/>
                        </a:rPr>
                        <a:t>Communication Services</a:t>
                      </a:r>
                    </a:p>
                  </a:txBody>
                  <a:tcPr marL="73152" marR="73152" marT="27432" marB="27432" anchor="ctr">
                    <a:solidFill>
                      <a:srgbClr val="F1F4F6"/>
                    </a:solidFill>
                  </a:tcPr>
                </a:tc>
                <a:tc>
                  <a:txBody>
                    <a:bodyPr wrap="square"/>
                    <a:lstStyle/>
                    <a:p>
                      <a:pPr algn="l"/>
                      <a:r>
                        <a:rPr sz="1050" b="0">
                          <a:solidFill>
                            <a:srgbClr val="14212B"/>
                          </a:solidFill>
                          <a:latin typeface="Calibri"/>
                        </a:rPr>
                        <a:t>6.09</a:t>
                      </a:r>
                    </a:p>
                  </a:txBody>
                  <a:tcPr marL="73152" marR="73152" marT="27432" marB="27432" anchor="ctr">
                    <a:solidFill>
                      <a:srgbClr val="F1F4F6"/>
                    </a:solidFill>
                  </a:tcPr>
                </a:tc>
                <a:tc>
                  <a:txBody>
                    <a:bodyPr wrap="square"/>
                    <a:lstStyle/>
                    <a:p>
                      <a:pPr algn="l"/>
                      <a:r>
                        <a:rPr sz="1050" b="0">
                          <a:solidFill>
                            <a:srgbClr val="14212B"/>
                          </a:solidFill>
                          <a:latin typeface="Calibri"/>
                        </a:rPr>
                        <a:t>48%</a:t>
                      </a:r>
                    </a:p>
                  </a:txBody>
                  <a:tcPr marL="73152" marR="73152" marT="27432" marB="27432" anchor="ctr">
                    <a:solidFill>
                      <a:srgbClr val="F1F4F6"/>
                    </a:solidFill>
                  </a:tcPr>
                </a:tc>
                <a:tc>
                  <a:txBody>
                    <a:bodyPr wrap="square"/>
                    <a:lstStyle/>
                    <a:p>
                      <a:pPr algn="l"/>
                      <a:r>
                        <a:rPr sz="950" b="0">
                          <a:solidFill>
                            <a:srgbClr val="14212B"/>
                          </a:solidFill>
                          <a:latin typeface="Calibri"/>
                        </a:rPr>
                        <a:t>-6.7% vs CAC 40 over 1 month; RSI 12 (oversold); below 200-day average.</a:t>
                      </a:r>
                    </a:p>
                  </a:txBody>
                  <a:tcPr marL="73152" marR="73152" marT="27432" marB="27432" anchor="ctr">
                    <a:solidFill>
                      <a:srgbClr val="F1F4F6"/>
                    </a:solidFill>
                  </a:tcPr>
                </a:tc>
              </a:tr>
            </a:tbl>
          </a:graphicData>
        </a:graphic>
      </p:graphicFrame>
      <p:sp>
        <p:nvSpPr>
          <p:cNvPr id="5" name="TextBox 4"/>
          <p:cNvSpPr txBox="1"/>
          <p:nvPr/>
        </p:nvSpPr>
        <p:spPr>
          <a:xfrm>
            <a:off x="548640" y="6400800"/>
            <a:ext cx="11064240" cy="274320"/>
          </a:xfrm>
          <a:prstGeom prst="rect">
            <a:avLst/>
          </a:prstGeom>
          <a:noFill/>
        </p:spPr>
        <p:txBody>
          <a:bodyPr wrap="square" anchor="t" lIns="0" rIns="0" tIns="0" bIns="0">
            <a:spAutoFit/>
          </a:bodyPr>
          <a:lstStyle/>
          <a:p>
            <a:pPr algn="l"/>
            <a:r>
              <a:rPr sz="900" b="0" i="0">
                <a:solidFill>
                  <a:srgbClr val="5B6770"/>
                </a:solidFill>
                <a:latin typeface="Calibri"/>
              </a:rPr>
              <a:t>* Lowest estimated chances to beat the CAC 40 over 5 trading days. Not a recommendation to sell short.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anchor="t" lIns="0" rIns="0" tIns="0" bIns="0">
            <a:spAutoFit/>
          </a:bodyPr>
          <a:lstStyle/>
          <a:p>
            <a:pPr algn="l"/>
            <a:r>
              <a:rPr sz="1100" b="1" i="0">
                <a:solidFill>
                  <a:srgbClr val="D99A1E"/>
                </a:solidFill>
                <a:latin typeface="Calibri"/>
              </a:rPr>
              <a:t>LONG TERM</a:t>
            </a:r>
          </a:p>
        </p:txBody>
      </p:sp>
      <p:sp>
        <p:nvSpPr>
          <p:cNvPr id="3" name="TextBox 2"/>
          <p:cNvSpPr txBox="1"/>
          <p:nvPr/>
        </p:nvSpPr>
        <p:spPr>
          <a:xfrm>
            <a:off x="548640" y="566928"/>
            <a:ext cx="11064240" cy="640080"/>
          </a:xfrm>
          <a:prstGeom prst="rect">
            <a:avLst/>
          </a:prstGeom>
          <a:noFill/>
        </p:spPr>
        <p:txBody>
          <a:bodyPr wrap="square" anchor="t" lIns="0" rIns="0" tIns="0" bIns="0">
            <a:spAutoFit/>
          </a:bodyPr>
          <a:lstStyle/>
          <a:p>
            <a:pPr algn="l"/>
            <a:r>
              <a:rPr sz="3000" b="1" i="0">
                <a:solidFill>
                  <a:srgbClr val="14212B"/>
                </a:solidFill>
                <a:latin typeface="Cambria"/>
              </a:rPr>
              <a:t>Top 10 for the long term (6-12 months)</a:t>
            </a:r>
          </a:p>
        </p:txBody>
      </p:sp>
      <p:graphicFrame>
        <p:nvGraphicFramePr>
          <p:cNvPr id="4" name="Table 3"/>
          <p:cNvGraphicFramePr>
            <a:graphicFrameLocks noGrp="1"/>
          </p:cNvGraphicFramePr>
          <p:nvPr/>
        </p:nvGraphicFramePr>
        <p:xfrm>
          <a:off x="548640" y="1325880"/>
          <a:ext cx="11640312" cy="5029200"/>
        </p:xfrm>
        <a:graphic>
          <a:graphicData uri="http://schemas.openxmlformats.org/drawingml/2006/table">
            <a:tbl>
              <a:tblPr firstRow="1">
                <a:tableStyleId>{5C22544A-7EE6-4342-B048-85BDC9FD1C3A}</a:tableStyleId>
              </a:tblPr>
              <a:tblGrid>
                <a:gridCol w="365760"/>
                <a:gridCol w="2148840"/>
                <a:gridCol w="1600200"/>
                <a:gridCol w="777240"/>
                <a:gridCol w="548640"/>
                <a:gridCol w="868680"/>
                <a:gridCol w="5330952"/>
              </a:tblGrid>
              <a:tr h="457200">
                <a:tc>
                  <a:txBody>
                    <a:bodyPr wrap="square"/>
                    <a:lstStyle/>
                    <a:p>
                      <a:pPr algn="l"/>
                      <a:r>
                        <a:rPr sz="1050" b="1">
                          <a:solidFill>
                            <a:srgbClr val="FFFFFF"/>
                          </a:solidFill>
                          <a:latin typeface="Calibri"/>
                        </a:rPr>
                        <a:t>#</a:t>
                      </a:r>
                    </a:p>
                  </a:txBody>
                  <a:tcPr marL="73152" marR="73152" marT="27432" marB="27432" anchor="ctr">
                    <a:solidFill>
                      <a:srgbClr val="14212B"/>
                    </a:solidFill>
                  </a:tcPr>
                </a:tc>
                <a:tc>
                  <a:txBody>
                    <a:bodyPr wrap="square"/>
                    <a:lstStyle/>
                    <a:p>
                      <a:pPr algn="l"/>
                      <a:r>
                        <a:rPr sz="1050" b="1">
                          <a:solidFill>
                            <a:srgbClr val="FFFFFF"/>
                          </a:solidFill>
                          <a:latin typeface="Calibri"/>
                        </a:rPr>
                        <a:t>Company</a:t>
                      </a:r>
                    </a:p>
                  </a:txBody>
                  <a:tcPr marL="73152" marR="73152" marT="27432" marB="27432" anchor="ctr">
                    <a:solidFill>
                      <a:srgbClr val="14212B"/>
                    </a:solidFill>
                  </a:tcPr>
                </a:tc>
                <a:tc>
                  <a:txBody>
                    <a:bodyPr wrap="square"/>
                    <a:lstStyle/>
                    <a:p>
                      <a:pPr algn="l"/>
                      <a:r>
                        <a:rPr sz="1050" b="1">
                          <a:solidFill>
                            <a:srgbClr val="FFFFFF"/>
                          </a:solidFill>
                          <a:latin typeface="Calibri"/>
                        </a:rPr>
                        <a:t>Sector</a:t>
                      </a:r>
                    </a:p>
                  </a:txBody>
                  <a:tcPr marL="73152" marR="73152" marT="27432" marB="27432" anchor="ctr">
                    <a:solidFill>
                      <a:srgbClr val="14212B"/>
                    </a:solidFill>
                  </a:tcPr>
                </a:tc>
                <a:tc>
                  <a:txBody>
                    <a:bodyPr wrap="square"/>
                    <a:lstStyle/>
                    <a:p>
                      <a:pPr algn="l"/>
                      <a:r>
                        <a:rPr sz="1050" b="1">
                          <a:solidFill>
                            <a:srgbClr val="FFFFFF"/>
                          </a:solidFill>
                          <a:latin typeface="Calibri"/>
                        </a:rPr>
                        <a:t>1-year</a:t>
                      </a:r>
                    </a:p>
                  </a:txBody>
                  <a:tcPr marL="73152" marR="73152" marT="27432" marB="27432" anchor="ctr">
                    <a:solidFill>
                      <a:srgbClr val="14212B"/>
                    </a:solidFill>
                  </a:tcPr>
                </a:tc>
                <a:tc>
                  <a:txBody>
                    <a:bodyPr wrap="square"/>
                    <a:lstStyle/>
                    <a:p>
                      <a:pPr algn="l"/>
                      <a:r>
                        <a:rPr sz="1050" b="1">
                          <a:solidFill>
                            <a:srgbClr val="FFFFFF"/>
                          </a:solidFill>
                          <a:latin typeface="Calibri"/>
                        </a:rPr>
                        <a:t>P/E</a:t>
                      </a:r>
                    </a:p>
                  </a:txBody>
                  <a:tcPr marL="73152" marR="73152" marT="27432" marB="27432" anchor="ctr">
                    <a:solidFill>
                      <a:srgbClr val="14212B"/>
                    </a:solidFill>
                  </a:tcPr>
                </a:tc>
                <a:tc>
                  <a:txBody>
                    <a:bodyPr wrap="square"/>
                    <a:lstStyle/>
                    <a:p>
                      <a:pPr algn="l"/>
                      <a:r>
                        <a:rPr sz="1050" b="1">
                          <a:solidFill>
                            <a:srgbClr val="FFFFFF"/>
                          </a:solidFill>
                          <a:latin typeface="Calibri"/>
                        </a:rPr>
                        <a:t>Dividend</a:t>
                      </a:r>
                    </a:p>
                  </a:txBody>
                  <a:tcPr marL="73152" marR="73152" marT="27432" marB="27432" anchor="ctr">
                    <a:solidFill>
                      <a:srgbClr val="14212B"/>
                    </a:solidFill>
                  </a:tcPr>
                </a:tc>
                <a:tc>
                  <a:txBody>
                    <a:bodyPr wrap="square"/>
                    <a:lstStyle/>
                    <a:p>
                      <a:pPr algn="l"/>
                      <a:r>
                        <a:rPr sz="1050" b="1">
                          <a:solidFill>
                            <a:srgbClr val="FFFFFF"/>
                          </a:solidFill>
                          <a:latin typeface="Calibri"/>
                        </a:rPr>
                        <a:t>Why it ranks high</a:t>
                      </a:r>
                    </a:p>
                  </a:txBody>
                  <a:tcPr marL="73152" marR="73152" marT="27432" marB="27432" anchor="ctr">
                    <a:solidFill>
                      <a:srgbClr val="14212B"/>
                    </a:solidFill>
                  </a:tcPr>
                </a:tc>
              </a:tr>
              <a:tr h="457200">
                <a:tc>
                  <a:txBody>
                    <a:bodyPr wrap="square"/>
                    <a:lstStyle/>
                    <a:p>
                      <a:pPr algn="l"/>
                      <a:r>
                        <a:rPr sz="1050" b="0">
                          <a:solidFill>
                            <a:srgbClr val="14212B"/>
                          </a:solidFill>
                          <a:latin typeface="Calibri"/>
                        </a:rPr>
                        <a:t>1</a:t>
                      </a:r>
                    </a:p>
                  </a:txBody>
                  <a:tcPr marL="73152" marR="73152" marT="27432" marB="27432" anchor="ctr">
                    <a:solidFill>
                      <a:srgbClr val="FFFFFF"/>
                    </a:solidFill>
                  </a:tcPr>
                </a:tc>
                <a:tc>
                  <a:txBody>
                    <a:bodyPr wrap="square"/>
                    <a:lstStyle/>
                    <a:p>
                      <a:pPr algn="l"/>
                      <a:r>
                        <a:rPr sz="1050" b="1">
                          <a:solidFill>
                            <a:srgbClr val="14212B"/>
                          </a:solidFill>
                          <a:latin typeface="Calibri"/>
                        </a:rPr>
                        <a:t>Carrefour</a:t>
                      </a:r>
                    </a:p>
                  </a:txBody>
                  <a:tcPr marL="73152" marR="73152" marT="27432" marB="27432" anchor="ctr">
                    <a:solidFill>
                      <a:srgbClr val="FFFFFF"/>
                    </a:solidFill>
                  </a:tcPr>
                </a:tc>
                <a:tc>
                  <a:txBody>
                    <a:bodyPr wrap="square"/>
                    <a:lstStyle/>
                    <a:p>
                      <a:pPr algn="l"/>
                      <a:r>
                        <a:rPr sz="1050" b="0">
                          <a:solidFill>
                            <a:srgbClr val="14212B"/>
                          </a:solidFill>
                          <a:latin typeface="Calibri"/>
                        </a:rPr>
                        <a:t>Consumer Defensive</a:t>
                      </a:r>
                    </a:p>
                  </a:txBody>
                  <a:tcPr marL="73152" marR="73152" marT="27432" marB="27432" anchor="ctr">
                    <a:solidFill>
                      <a:srgbClr val="FFFFFF"/>
                    </a:solidFill>
                  </a:tcPr>
                </a:tc>
                <a:tc>
                  <a:txBody>
                    <a:bodyPr wrap="square"/>
                    <a:lstStyle/>
                    <a:p>
                      <a:pPr algn="l"/>
                      <a:r>
                        <a:rPr sz="1050" b="0">
                          <a:solidFill>
                            <a:srgbClr val="14212B"/>
                          </a:solidFill>
                          <a:latin typeface="Calibri"/>
                        </a:rPr>
                        <a:t>+32%</a:t>
                      </a:r>
                    </a:p>
                  </a:txBody>
                  <a:tcPr marL="73152" marR="73152" marT="27432" marB="27432" anchor="ctr">
                    <a:solidFill>
                      <a:srgbClr val="FFFFFF"/>
                    </a:solidFill>
                  </a:tcPr>
                </a:tc>
                <a:tc>
                  <a:txBody>
                    <a:bodyPr wrap="square"/>
                    <a:lstStyle/>
                    <a:p>
                      <a:pPr algn="l"/>
                      <a:r>
                        <a:rPr sz="1050" b="0">
                          <a:solidFill>
                            <a:srgbClr val="14212B"/>
                          </a:solidFill>
                          <a:latin typeface="Calibri"/>
                        </a:rPr>
                        <a:t>12</a:t>
                      </a:r>
                    </a:p>
                  </a:txBody>
                  <a:tcPr marL="73152" marR="73152" marT="27432" marB="27432" anchor="ctr">
                    <a:solidFill>
                      <a:srgbClr val="FFFFFF"/>
                    </a:solidFill>
                  </a:tcPr>
                </a:tc>
                <a:tc>
                  <a:txBody>
                    <a:bodyPr wrap="square"/>
                    <a:lstStyle/>
                    <a:p>
                      <a:pPr algn="l"/>
                      <a:r>
                        <a:rPr sz="1050" b="0">
                          <a:solidFill>
                            <a:srgbClr val="14212B"/>
                          </a:solidFill>
                          <a:latin typeface="Calibri"/>
                        </a:rPr>
                        <a:t>6.1%</a:t>
                      </a:r>
                    </a:p>
                  </a:txBody>
                  <a:tcPr marL="73152" marR="73152" marT="27432" marB="27432" anchor="ctr">
                    <a:solidFill>
                      <a:srgbClr val="FFFFFF"/>
                    </a:solidFill>
                  </a:tcPr>
                </a:tc>
                <a:tc>
                  <a:txBody>
                    <a:bodyPr wrap="square"/>
                    <a:lstStyle/>
                    <a:p>
                      <a:pPr algn="l"/>
                      <a:r>
                        <a:rPr sz="950" b="0">
                          <a:solidFill>
                            <a:srgbClr val="14212B"/>
                          </a:solidFill>
                          <a:latin typeface="Calibri"/>
                        </a:rPr>
                        <a:t>1-year +32% for 22% volatility; worst drop -8%; above 200-day average.</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2</a:t>
                      </a:r>
                    </a:p>
                  </a:txBody>
                  <a:tcPr marL="73152" marR="73152" marT="27432" marB="27432" anchor="ctr">
                    <a:solidFill>
                      <a:srgbClr val="F1F4F6"/>
                    </a:solidFill>
                  </a:tcPr>
                </a:tc>
                <a:tc>
                  <a:txBody>
                    <a:bodyPr wrap="square"/>
                    <a:lstStyle/>
                    <a:p>
                      <a:pPr algn="l"/>
                      <a:r>
                        <a:rPr sz="1050" b="1">
                          <a:solidFill>
                            <a:srgbClr val="14212B"/>
                          </a:solidFill>
                          <a:latin typeface="Calibri"/>
                        </a:rPr>
                        <a:t>BNP Paribas</a:t>
                      </a:r>
                    </a:p>
                  </a:txBody>
                  <a:tcPr marL="73152" marR="73152" marT="27432" marB="27432" anchor="ctr">
                    <a:solidFill>
                      <a:srgbClr val="F1F4F6"/>
                    </a:solidFill>
                  </a:tcPr>
                </a:tc>
                <a:tc>
                  <a:txBody>
                    <a:bodyPr wrap="square"/>
                    <a:lstStyle/>
                    <a:p>
                      <a:pPr algn="l"/>
                      <a:r>
                        <a:rPr sz="1050" b="0">
                          <a:solidFill>
                            <a:srgbClr val="14212B"/>
                          </a:solidFill>
                          <a:latin typeface="Calibri"/>
                        </a:rPr>
                        <a:t>Financial Services</a:t>
                      </a:r>
                    </a:p>
                  </a:txBody>
                  <a:tcPr marL="73152" marR="73152" marT="27432" marB="27432" anchor="ctr">
                    <a:solidFill>
                      <a:srgbClr val="F1F4F6"/>
                    </a:solidFill>
                  </a:tcPr>
                </a:tc>
                <a:tc>
                  <a:txBody>
                    <a:bodyPr wrap="square"/>
                    <a:lstStyle/>
                    <a:p>
                      <a:pPr algn="l"/>
                      <a:r>
                        <a:rPr sz="1050" b="0">
                          <a:solidFill>
                            <a:srgbClr val="14212B"/>
                          </a:solidFill>
                          <a:latin typeface="Calibri"/>
                        </a:rPr>
                        <a:t>+31%</a:t>
                      </a:r>
                    </a:p>
                  </a:txBody>
                  <a:tcPr marL="73152" marR="73152" marT="27432" marB="27432" anchor="ctr">
                    <a:solidFill>
                      <a:srgbClr val="F1F4F6"/>
                    </a:solidFill>
                  </a:tcPr>
                </a:tc>
                <a:tc>
                  <a:txBody>
                    <a:bodyPr wrap="square"/>
                    <a:lstStyle/>
                    <a:p>
                      <a:pPr algn="l"/>
                      <a:r>
                        <a:rPr sz="1050" b="0">
                          <a:solidFill>
                            <a:srgbClr val="14212B"/>
                          </a:solidFill>
                          <a:latin typeface="Calibri"/>
                        </a:rPr>
                        <a:t>8</a:t>
                      </a:r>
                    </a:p>
                  </a:txBody>
                  <a:tcPr marL="73152" marR="73152" marT="27432" marB="27432" anchor="ctr">
                    <a:solidFill>
                      <a:srgbClr val="F1F4F6"/>
                    </a:solidFill>
                  </a:tcPr>
                </a:tc>
                <a:tc>
                  <a:txBody>
                    <a:bodyPr wrap="square"/>
                    <a:lstStyle/>
                    <a:p>
                      <a:pPr algn="l"/>
                      <a:r>
                        <a:rPr sz="1050" b="0">
                          <a:solidFill>
                            <a:srgbClr val="14212B"/>
                          </a:solidFill>
                          <a:latin typeface="Calibri"/>
                        </a:rPr>
                        <a:t>6.1%</a:t>
                      </a:r>
                    </a:p>
                  </a:txBody>
                  <a:tcPr marL="73152" marR="73152" marT="27432" marB="27432" anchor="ctr">
                    <a:solidFill>
                      <a:srgbClr val="F1F4F6"/>
                    </a:solidFill>
                  </a:tcPr>
                </a:tc>
                <a:tc>
                  <a:txBody>
                    <a:bodyPr wrap="square"/>
                    <a:lstStyle/>
                    <a:p>
                      <a:pPr algn="l"/>
                      <a:r>
                        <a:rPr sz="950" b="0">
                          <a:solidFill>
                            <a:srgbClr val="14212B"/>
                          </a:solidFill>
                          <a:latin typeface="Calibri"/>
                        </a:rPr>
                        <a:t>1-year +31% for 28% volatility; worst drop -16%; above 200-day average.</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3</a:t>
                      </a:r>
                    </a:p>
                  </a:txBody>
                  <a:tcPr marL="73152" marR="73152" marT="27432" marB="27432" anchor="ctr">
                    <a:solidFill>
                      <a:srgbClr val="FFFFFF"/>
                    </a:solidFill>
                  </a:tcPr>
                </a:tc>
                <a:tc>
                  <a:txBody>
                    <a:bodyPr wrap="square"/>
                    <a:lstStyle/>
                    <a:p>
                      <a:pPr algn="l"/>
                      <a:r>
                        <a:rPr sz="1050" b="1">
                          <a:solidFill>
                            <a:srgbClr val="14212B"/>
                          </a:solidFill>
                          <a:latin typeface="Calibri"/>
                        </a:rPr>
                        <a:t>TotalEnergies</a:t>
                      </a:r>
                    </a:p>
                  </a:txBody>
                  <a:tcPr marL="73152" marR="73152" marT="27432" marB="27432" anchor="ctr">
                    <a:solidFill>
                      <a:srgbClr val="FFFFFF"/>
                    </a:solidFill>
                  </a:tcPr>
                </a:tc>
                <a:tc>
                  <a:txBody>
                    <a:bodyPr wrap="square"/>
                    <a:lstStyle/>
                    <a:p>
                      <a:pPr algn="l"/>
                      <a:r>
                        <a:rPr sz="1050" b="0">
                          <a:solidFill>
                            <a:srgbClr val="14212B"/>
                          </a:solidFill>
                          <a:latin typeface="Calibri"/>
                        </a:rPr>
                        <a:t>Energy</a:t>
                      </a:r>
                    </a:p>
                  </a:txBody>
                  <a:tcPr marL="73152" marR="73152" marT="27432" marB="27432" anchor="ctr">
                    <a:solidFill>
                      <a:srgbClr val="FFFFFF"/>
                    </a:solidFill>
                  </a:tcPr>
                </a:tc>
                <a:tc>
                  <a:txBody>
                    <a:bodyPr wrap="square"/>
                    <a:lstStyle/>
                    <a:p>
                      <a:pPr algn="l"/>
                      <a:r>
                        <a:rPr sz="1050" b="0">
                          <a:solidFill>
                            <a:srgbClr val="14212B"/>
                          </a:solidFill>
                          <a:latin typeface="Calibri"/>
                        </a:rPr>
                        <a:t>+53%</a:t>
                      </a:r>
                    </a:p>
                  </a:txBody>
                  <a:tcPr marL="73152" marR="73152" marT="27432" marB="27432" anchor="ctr">
                    <a:solidFill>
                      <a:srgbClr val="FFFFFF"/>
                    </a:solidFill>
                  </a:tcPr>
                </a:tc>
                <a:tc>
                  <a:txBody>
                    <a:bodyPr wrap="square"/>
                    <a:lstStyle/>
                    <a:p>
                      <a:pPr algn="l"/>
                      <a:r>
                        <a:rPr sz="1050" b="0">
                          <a:solidFill>
                            <a:srgbClr val="14212B"/>
                          </a:solidFill>
                          <a:latin typeface="Calibri"/>
                        </a:rPr>
                        <a:t>11</a:t>
                      </a:r>
                    </a:p>
                  </a:txBody>
                  <a:tcPr marL="73152" marR="73152" marT="27432" marB="27432" anchor="ctr">
                    <a:solidFill>
                      <a:srgbClr val="FFFFFF"/>
                    </a:solidFill>
                  </a:tcPr>
                </a:tc>
                <a:tc>
                  <a:txBody>
                    <a:bodyPr wrap="square"/>
                    <a:lstStyle/>
                    <a:p>
                      <a:pPr algn="l"/>
                      <a:r>
                        <a:rPr sz="1050" b="0">
                          <a:solidFill>
                            <a:srgbClr val="14212B"/>
                          </a:solidFill>
                          <a:latin typeface="Calibri"/>
                        </a:rPr>
                        <a:t>5.4%</a:t>
                      </a:r>
                    </a:p>
                  </a:txBody>
                  <a:tcPr marL="73152" marR="73152" marT="27432" marB="27432" anchor="ctr">
                    <a:solidFill>
                      <a:srgbClr val="FFFFFF"/>
                    </a:solidFill>
                  </a:tcPr>
                </a:tc>
                <a:tc>
                  <a:txBody>
                    <a:bodyPr wrap="square"/>
                    <a:lstStyle/>
                    <a:p>
                      <a:pPr algn="l"/>
                      <a:r>
                        <a:rPr sz="950" b="0">
                          <a:solidFill>
                            <a:srgbClr val="14212B"/>
                          </a:solidFill>
                          <a:latin typeface="Calibri"/>
                        </a:rPr>
                        <a:t>1-year +53% for 23% volatility; worst drop -18%; above 200-day average. World-news headwind (Energy).</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4</a:t>
                      </a:r>
                    </a:p>
                  </a:txBody>
                  <a:tcPr marL="73152" marR="73152" marT="27432" marB="27432" anchor="ctr">
                    <a:solidFill>
                      <a:srgbClr val="F1F4F6"/>
                    </a:solidFill>
                  </a:tcPr>
                </a:tc>
                <a:tc>
                  <a:txBody>
                    <a:bodyPr wrap="square"/>
                    <a:lstStyle/>
                    <a:p>
                      <a:pPr algn="l"/>
                      <a:r>
                        <a:rPr sz="1050" b="1">
                          <a:solidFill>
                            <a:srgbClr val="14212B"/>
                          </a:solidFill>
                          <a:latin typeface="Calibri"/>
                        </a:rPr>
                        <a:t>Amundi</a:t>
                      </a:r>
                    </a:p>
                  </a:txBody>
                  <a:tcPr marL="73152" marR="73152" marT="27432" marB="27432" anchor="ctr">
                    <a:solidFill>
                      <a:srgbClr val="F1F4F6"/>
                    </a:solidFill>
                  </a:tcPr>
                </a:tc>
                <a:tc>
                  <a:txBody>
                    <a:bodyPr wrap="square"/>
                    <a:lstStyle/>
                    <a:p>
                      <a:pPr algn="l"/>
                      <a:r>
                        <a:rPr sz="1050" b="0">
                          <a:solidFill>
                            <a:srgbClr val="14212B"/>
                          </a:solidFill>
                          <a:latin typeface="Calibri"/>
                        </a:rPr>
                        <a:t>Financial Services</a:t>
                      </a:r>
                    </a:p>
                  </a:txBody>
                  <a:tcPr marL="73152" marR="73152" marT="27432" marB="27432" anchor="ctr">
                    <a:solidFill>
                      <a:srgbClr val="F1F4F6"/>
                    </a:solidFill>
                  </a:tcPr>
                </a:tc>
                <a:tc>
                  <a:txBody>
                    <a:bodyPr wrap="square"/>
                    <a:lstStyle/>
                    <a:p>
                      <a:pPr algn="l"/>
                      <a:r>
                        <a:rPr sz="1050" b="0">
                          <a:solidFill>
                            <a:srgbClr val="14212B"/>
                          </a:solidFill>
                          <a:latin typeface="Calibri"/>
                        </a:rPr>
                        <a:t>+37%</a:t>
                      </a:r>
                    </a:p>
                  </a:txBody>
                  <a:tcPr marL="73152" marR="73152" marT="27432" marB="27432" anchor="ctr">
                    <a:solidFill>
                      <a:srgbClr val="F1F4F6"/>
                    </a:solidFill>
                  </a:tcPr>
                </a:tc>
                <a:tc>
                  <a:txBody>
                    <a:bodyPr wrap="square"/>
                    <a:lstStyle/>
                    <a:p>
                      <a:pPr algn="l"/>
                      <a:r>
                        <a:rPr sz="1050" b="0">
                          <a:solidFill>
                            <a:srgbClr val="14212B"/>
                          </a:solidFill>
                          <a:latin typeface="Calibri"/>
                        </a:rPr>
                        <a:t>13</a:t>
                      </a:r>
                    </a:p>
                  </a:txBody>
                  <a:tcPr marL="73152" marR="73152" marT="27432" marB="27432" anchor="ctr">
                    <a:solidFill>
                      <a:srgbClr val="F1F4F6"/>
                    </a:solidFill>
                  </a:tcPr>
                </a:tc>
                <a:tc>
                  <a:txBody>
                    <a:bodyPr wrap="square"/>
                    <a:lstStyle/>
                    <a:p>
                      <a:pPr algn="l"/>
                      <a:r>
                        <a:rPr sz="1050" b="0">
                          <a:solidFill>
                            <a:srgbClr val="14212B"/>
                          </a:solidFill>
                          <a:latin typeface="Calibri"/>
                        </a:rPr>
                        <a:t>4.7%</a:t>
                      </a:r>
                    </a:p>
                  </a:txBody>
                  <a:tcPr marL="73152" marR="73152" marT="27432" marB="27432" anchor="ctr">
                    <a:solidFill>
                      <a:srgbClr val="F1F4F6"/>
                    </a:solidFill>
                  </a:tcPr>
                </a:tc>
                <a:tc>
                  <a:txBody>
                    <a:bodyPr wrap="square"/>
                    <a:lstStyle/>
                    <a:p>
                      <a:pPr algn="l"/>
                      <a:r>
                        <a:rPr sz="950" b="0">
                          <a:solidFill>
                            <a:srgbClr val="14212B"/>
                          </a:solidFill>
                          <a:latin typeface="Calibri"/>
                        </a:rPr>
                        <a:t>1-year +37% for 23% volatility; worst drop -12%; above 200-day average.</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5</a:t>
                      </a:r>
                    </a:p>
                  </a:txBody>
                  <a:tcPr marL="73152" marR="73152" marT="27432" marB="27432" anchor="ctr">
                    <a:solidFill>
                      <a:srgbClr val="FFFFFF"/>
                    </a:solidFill>
                  </a:tcPr>
                </a:tc>
                <a:tc>
                  <a:txBody>
                    <a:bodyPr wrap="square"/>
                    <a:lstStyle/>
                    <a:p>
                      <a:pPr algn="l"/>
                      <a:r>
                        <a:rPr sz="1050" b="1">
                          <a:solidFill>
                            <a:srgbClr val="14212B"/>
                          </a:solidFill>
                          <a:latin typeface="Calibri"/>
                        </a:rPr>
                        <a:t>Rubis</a:t>
                      </a:r>
                    </a:p>
                  </a:txBody>
                  <a:tcPr marL="73152" marR="73152" marT="27432" marB="27432" anchor="ctr">
                    <a:solidFill>
                      <a:srgbClr val="FFFFFF"/>
                    </a:solidFill>
                  </a:tcPr>
                </a:tc>
                <a:tc>
                  <a:txBody>
                    <a:bodyPr wrap="square"/>
                    <a:lstStyle/>
                    <a:p>
                      <a:pPr algn="l"/>
                      <a:r>
                        <a:rPr sz="1050" b="0">
                          <a:solidFill>
                            <a:srgbClr val="14212B"/>
                          </a:solidFill>
                          <a:latin typeface="Calibri"/>
                        </a:rPr>
                        <a:t>Energy</a:t>
                      </a:r>
                    </a:p>
                  </a:txBody>
                  <a:tcPr marL="73152" marR="73152" marT="27432" marB="27432" anchor="ctr">
                    <a:solidFill>
                      <a:srgbClr val="FFFFFF"/>
                    </a:solidFill>
                  </a:tcPr>
                </a:tc>
                <a:tc>
                  <a:txBody>
                    <a:bodyPr wrap="square"/>
                    <a:lstStyle/>
                    <a:p>
                      <a:pPr algn="l"/>
                      <a:r>
                        <a:rPr sz="1050" b="0">
                          <a:solidFill>
                            <a:srgbClr val="14212B"/>
                          </a:solidFill>
                          <a:latin typeface="Calibri"/>
                        </a:rPr>
                        <a:t>+17%</a:t>
                      </a:r>
                    </a:p>
                  </a:txBody>
                  <a:tcPr marL="73152" marR="73152" marT="27432" marB="27432" anchor="ctr">
                    <a:solidFill>
                      <a:srgbClr val="FFFFFF"/>
                    </a:solidFill>
                  </a:tcPr>
                </a:tc>
                <a:tc>
                  <a:txBody>
                    <a:bodyPr wrap="square"/>
                    <a:lstStyle/>
                    <a:p>
                      <a:pPr algn="l"/>
                      <a:r>
                        <a:rPr sz="1050" b="0">
                          <a:solidFill>
                            <a:srgbClr val="14212B"/>
                          </a:solidFill>
                          <a:latin typeface="Calibri"/>
                        </a:rPr>
                        <a:t>11</a:t>
                      </a:r>
                    </a:p>
                  </a:txBody>
                  <a:tcPr marL="73152" marR="73152" marT="27432" marB="27432" anchor="ctr">
                    <a:solidFill>
                      <a:srgbClr val="FFFFFF"/>
                    </a:solidFill>
                  </a:tcPr>
                </a:tc>
                <a:tc>
                  <a:txBody>
                    <a:bodyPr wrap="square"/>
                    <a:lstStyle/>
                    <a:p>
                      <a:pPr algn="l"/>
                      <a:r>
                        <a:rPr sz="1050" b="0">
                          <a:solidFill>
                            <a:srgbClr val="14212B"/>
                          </a:solidFill>
                          <a:latin typeface="Calibri"/>
                        </a:rPr>
                        <a:t>5.9%</a:t>
                      </a:r>
                    </a:p>
                  </a:txBody>
                  <a:tcPr marL="73152" marR="73152" marT="27432" marB="27432" anchor="ctr">
                    <a:solidFill>
                      <a:srgbClr val="FFFFFF"/>
                    </a:solidFill>
                  </a:tcPr>
                </a:tc>
                <a:tc>
                  <a:txBody>
                    <a:bodyPr wrap="square"/>
                    <a:lstStyle/>
                    <a:p>
                      <a:pPr algn="l"/>
                      <a:r>
                        <a:rPr sz="950" b="0">
                          <a:solidFill>
                            <a:srgbClr val="14212B"/>
                          </a:solidFill>
                          <a:latin typeface="Calibri"/>
                        </a:rPr>
                        <a:t>1-year +17% for 20% volatility; worst drop -12%; above 200-day average. World-news headwind (Energy).</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6</a:t>
                      </a:r>
                    </a:p>
                  </a:txBody>
                  <a:tcPr marL="73152" marR="73152" marT="27432" marB="27432" anchor="ctr">
                    <a:solidFill>
                      <a:srgbClr val="F1F4F6"/>
                    </a:solidFill>
                  </a:tcPr>
                </a:tc>
                <a:tc>
                  <a:txBody>
                    <a:bodyPr wrap="square"/>
                    <a:lstStyle/>
                    <a:p>
                      <a:pPr algn="l"/>
                      <a:r>
                        <a:rPr sz="1050" b="1">
                          <a:solidFill>
                            <a:srgbClr val="14212B"/>
                          </a:solidFill>
                          <a:latin typeface="Calibri"/>
                        </a:rPr>
                        <a:t>JCDecaux</a:t>
                      </a:r>
                    </a:p>
                  </a:txBody>
                  <a:tcPr marL="73152" marR="73152" marT="27432" marB="27432" anchor="ctr">
                    <a:solidFill>
                      <a:srgbClr val="F1F4F6"/>
                    </a:solidFill>
                  </a:tcPr>
                </a:tc>
                <a:tc>
                  <a:txBody>
                    <a:bodyPr wrap="square"/>
                    <a:lstStyle/>
                    <a:p>
                      <a:pPr algn="l"/>
                      <a:r>
                        <a:rPr sz="1050" b="0">
                          <a:solidFill>
                            <a:srgbClr val="14212B"/>
                          </a:solidFill>
                          <a:latin typeface="Calibri"/>
                        </a:rPr>
                        <a:t>Communication Services</a:t>
                      </a:r>
                    </a:p>
                  </a:txBody>
                  <a:tcPr marL="73152" marR="73152" marT="27432" marB="27432" anchor="ctr">
                    <a:solidFill>
                      <a:srgbClr val="F1F4F6"/>
                    </a:solidFill>
                  </a:tcPr>
                </a:tc>
                <a:tc>
                  <a:txBody>
                    <a:bodyPr wrap="square"/>
                    <a:lstStyle/>
                    <a:p>
                      <a:pPr algn="l"/>
                      <a:r>
                        <a:rPr sz="1050" b="0">
                          <a:solidFill>
                            <a:srgbClr val="14212B"/>
                          </a:solidFill>
                          <a:latin typeface="Calibri"/>
                        </a:rPr>
                        <a:t>+70%</a:t>
                      </a:r>
                    </a:p>
                  </a:txBody>
                  <a:tcPr marL="73152" marR="73152" marT="27432" marB="27432" anchor="ctr">
                    <a:solidFill>
                      <a:srgbClr val="F1F4F6"/>
                    </a:solidFill>
                  </a:tcPr>
                </a:tc>
                <a:tc>
                  <a:txBody>
                    <a:bodyPr wrap="square"/>
                    <a:lstStyle/>
                    <a:p>
                      <a:pPr algn="l"/>
                      <a:r>
                        <a:rPr sz="1050" b="0">
                          <a:solidFill>
                            <a:srgbClr val="14212B"/>
                          </a:solidFill>
                          <a:latin typeface="Calibri"/>
                        </a:rPr>
                        <a:t>16</a:t>
                      </a:r>
                    </a:p>
                  </a:txBody>
                  <a:tcPr marL="73152" marR="73152" marT="27432" marB="27432" anchor="ctr">
                    <a:solidFill>
                      <a:srgbClr val="F1F4F6"/>
                    </a:solidFill>
                  </a:tcPr>
                </a:tc>
                <a:tc>
                  <a:txBody>
                    <a:bodyPr wrap="square"/>
                    <a:lstStyle/>
                    <a:p>
                      <a:pPr algn="l"/>
                      <a:r>
                        <a:rPr sz="1050" b="0">
                          <a:solidFill>
                            <a:srgbClr val="14212B"/>
                          </a:solidFill>
                          <a:latin typeface="Calibri"/>
                        </a:rPr>
                        <a:t>2.6%</a:t>
                      </a:r>
                    </a:p>
                  </a:txBody>
                  <a:tcPr marL="73152" marR="73152" marT="27432" marB="27432" anchor="ctr">
                    <a:solidFill>
                      <a:srgbClr val="F1F4F6"/>
                    </a:solidFill>
                  </a:tcPr>
                </a:tc>
                <a:tc>
                  <a:txBody>
                    <a:bodyPr wrap="square"/>
                    <a:lstStyle/>
                    <a:p>
                      <a:pPr algn="l"/>
                      <a:r>
                        <a:rPr sz="950" b="0">
                          <a:solidFill>
                            <a:srgbClr val="14212B"/>
                          </a:solidFill>
                          <a:latin typeface="Calibri"/>
                        </a:rPr>
                        <a:t>1-year +70% for 29% volatility; worst drop -10%; above 200-day average.</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7</a:t>
                      </a:r>
                    </a:p>
                  </a:txBody>
                  <a:tcPr marL="73152" marR="73152" marT="27432" marB="27432" anchor="ctr">
                    <a:solidFill>
                      <a:srgbClr val="FFFFFF"/>
                    </a:solidFill>
                  </a:tcPr>
                </a:tc>
                <a:tc>
                  <a:txBody>
                    <a:bodyPr wrap="square"/>
                    <a:lstStyle/>
                    <a:p>
                      <a:pPr algn="l"/>
                      <a:r>
                        <a:rPr sz="1050" b="1">
                          <a:solidFill>
                            <a:srgbClr val="14212B"/>
                          </a:solidFill>
                          <a:latin typeface="Calibri"/>
                        </a:rPr>
                        <a:t>AXA</a:t>
                      </a:r>
                    </a:p>
                  </a:txBody>
                  <a:tcPr marL="73152" marR="73152" marT="27432" marB="27432" anchor="ctr">
                    <a:solidFill>
                      <a:srgbClr val="FFFFFF"/>
                    </a:solidFill>
                  </a:tcPr>
                </a:tc>
                <a:tc>
                  <a:txBody>
                    <a:bodyPr wrap="square"/>
                    <a:lstStyle/>
                    <a:p>
                      <a:pPr algn="l"/>
                      <a:r>
                        <a:rPr sz="1050" b="0">
                          <a:solidFill>
                            <a:srgbClr val="14212B"/>
                          </a:solidFill>
                          <a:latin typeface="Calibri"/>
                        </a:rPr>
                        <a:t>Financial Services</a:t>
                      </a:r>
                    </a:p>
                  </a:txBody>
                  <a:tcPr marL="73152" marR="73152" marT="27432" marB="27432" anchor="ctr">
                    <a:solidFill>
                      <a:srgbClr val="FFFFFF"/>
                    </a:solidFill>
                  </a:tcPr>
                </a:tc>
                <a:tc>
                  <a:txBody>
                    <a:bodyPr wrap="square"/>
                    <a:lstStyle/>
                    <a:p>
                      <a:pPr algn="l"/>
                      <a:r>
                        <a:rPr sz="1050" b="0">
                          <a:solidFill>
                            <a:srgbClr val="14212B"/>
                          </a:solidFill>
                          <a:latin typeface="Calibri"/>
                        </a:rPr>
                        <a:t>+14%</a:t>
                      </a:r>
                    </a:p>
                  </a:txBody>
                  <a:tcPr marL="73152" marR="73152" marT="27432" marB="27432" anchor="ctr">
                    <a:solidFill>
                      <a:srgbClr val="FFFFFF"/>
                    </a:solidFill>
                  </a:tcPr>
                </a:tc>
                <a:tc>
                  <a:txBody>
                    <a:bodyPr wrap="square"/>
                    <a:lstStyle/>
                    <a:p>
                      <a:pPr algn="l"/>
                      <a:r>
                        <a:rPr sz="1050" b="0">
                          <a:solidFill>
                            <a:srgbClr val="14212B"/>
                          </a:solidFill>
                          <a:latin typeface="Calibri"/>
                        </a:rPr>
                        <a:t>11</a:t>
                      </a:r>
                    </a:p>
                  </a:txBody>
                  <a:tcPr marL="73152" marR="73152" marT="27432" marB="27432" anchor="ctr">
                    <a:solidFill>
                      <a:srgbClr val="FFFFFF"/>
                    </a:solidFill>
                  </a:tcPr>
                </a:tc>
                <a:tc>
                  <a:txBody>
                    <a:bodyPr wrap="square"/>
                    <a:lstStyle/>
                    <a:p>
                      <a:pPr algn="l"/>
                      <a:r>
                        <a:rPr sz="1050" b="0">
                          <a:solidFill>
                            <a:srgbClr val="14212B"/>
                          </a:solidFill>
                          <a:latin typeface="Calibri"/>
                        </a:rPr>
                        <a:t>5.5%</a:t>
                      </a:r>
                    </a:p>
                  </a:txBody>
                  <a:tcPr marL="73152" marR="73152" marT="27432" marB="27432" anchor="ctr">
                    <a:solidFill>
                      <a:srgbClr val="FFFFFF"/>
                    </a:solidFill>
                  </a:tcPr>
                </a:tc>
                <a:tc>
                  <a:txBody>
                    <a:bodyPr wrap="square"/>
                    <a:lstStyle/>
                    <a:p>
                      <a:pPr algn="l"/>
                      <a:r>
                        <a:rPr sz="950" b="0">
                          <a:solidFill>
                            <a:srgbClr val="14212B"/>
                          </a:solidFill>
                          <a:latin typeface="Calibri"/>
                        </a:rPr>
                        <a:t>1-year +14% for 18% volatility; worst drop -10%; above 200-day average.</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8</a:t>
                      </a:r>
                    </a:p>
                  </a:txBody>
                  <a:tcPr marL="73152" marR="73152" marT="27432" marB="27432" anchor="ctr">
                    <a:solidFill>
                      <a:srgbClr val="F1F4F6"/>
                    </a:solidFill>
                  </a:tcPr>
                </a:tc>
                <a:tc>
                  <a:txBody>
                    <a:bodyPr wrap="square"/>
                    <a:lstStyle/>
                    <a:p>
                      <a:pPr algn="l"/>
                      <a:r>
                        <a:rPr sz="1050" b="1">
                          <a:solidFill>
                            <a:srgbClr val="14212B"/>
                          </a:solidFill>
                          <a:latin typeface="Calibri"/>
                        </a:rPr>
                        <a:t>Compagnie Générale des Établis</a:t>
                      </a:r>
                    </a:p>
                  </a:txBody>
                  <a:tcPr marL="73152" marR="73152" marT="27432" marB="27432" anchor="ctr">
                    <a:solidFill>
                      <a:srgbClr val="F1F4F6"/>
                    </a:solidFill>
                  </a:tcPr>
                </a:tc>
                <a:tc>
                  <a:txBody>
                    <a:bodyPr wrap="square"/>
                    <a:lstStyle/>
                    <a:p>
                      <a:pPr algn="l"/>
                      <a:r>
                        <a:rPr sz="1050" b="0">
                          <a:solidFill>
                            <a:srgbClr val="14212B"/>
                          </a:solidFill>
                          <a:latin typeface="Calibri"/>
                        </a:rPr>
                        <a:t>—</a:t>
                      </a:r>
                    </a:p>
                  </a:txBody>
                  <a:tcPr marL="73152" marR="73152" marT="27432" marB="27432" anchor="ctr">
                    <a:solidFill>
                      <a:srgbClr val="F1F4F6"/>
                    </a:solidFill>
                  </a:tcPr>
                </a:tc>
                <a:tc>
                  <a:txBody>
                    <a:bodyPr wrap="square"/>
                    <a:lstStyle/>
                    <a:p>
                      <a:pPr algn="l"/>
                      <a:r>
                        <a:rPr sz="1050" b="0">
                          <a:solidFill>
                            <a:srgbClr val="14212B"/>
                          </a:solidFill>
                          <a:latin typeface="Calibri"/>
                        </a:rPr>
                        <a:t>+13%</a:t>
                      </a:r>
                    </a:p>
                  </a:txBody>
                  <a:tcPr marL="73152" marR="73152" marT="27432" marB="27432" anchor="ctr">
                    <a:solidFill>
                      <a:srgbClr val="F1F4F6"/>
                    </a:solidFill>
                  </a:tcPr>
                </a:tc>
                <a:tc>
                  <a:txBody>
                    <a:bodyPr wrap="square"/>
                    <a:lstStyle/>
                    <a:p>
                      <a:pPr algn="l"/>
                      <a:r>
                        <a:rPr sz="1050" b="0">
                          <a:solidFill>
                            <a:srgbClr val="14212B"/>
                          </a:solidFill>
                          <a:latin typeface="Calibri"/>
                        </a:rPr>
                        <a:t>3</a:t>
                      </a:r>
                    </a:p>
                  </a:txBody>
                  <a:tcPr marL="73152" marR="73152" marT="27432" marB="27432" anchor="ctr">
                    <a:solidFill>
                      <a:srgbClr val="F1F4F6"/>
                    </a:solidFill>
                  </a:tcPr>
                </a:tc>
                <a:tc>
                  <a:txBody>
                    <a:bodyPr wrap="square"/>
                    <a:lstStyle/>
                    <a:p>
                      <a:pPr algn="l"/>
                      <a:r>
                        <a:rPr sz="1050" b="0">
                          <a:solidFill>
                            <a:srgbClr val="14212B"/>
                          </a:solidFill>
                          <a:latin typeface="Calibri"/>
                        </a:rPr>
                        <a:t>13.3%</a:t>
                      </a:r>
                    </a:p>
                  </a:txBody>
                  <a:tcPr marL="73152" marR="73152" marT="27432" marB="27432" anchor="ctr">
                    <a:solidFill>
                      <a:srgbClr val="F1F4F6"/>
                    </a:solidFill>
                  </a:tcPr>
                </a:tc>
                <a:tc>
                  <a:txBody>
                    <a:bodyPr wrap="square"/>
                    <a:lstStyle/>
                    <a:p>
                      <a:pPr algn="l"/>
                      <a:r>
                        <a:rPr sz="950" b="0">
                          <a:solidFill>
                            <a:srgbClr val="14212B"/>
                          </a:solidFill>
                          <a:latin typeface="Calibri"/>
                        </a:rPr>
                        <a:t>1-year +13% for 23% volatility; worst drop -17%; above 200-day average.</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9</a:t>
                      </a:r>
                    </a:p>
                  </a:txBody>
                  <a:tcPr marL="73152" marR="73152" marT="27432" marB="27432" anchor="ctr">
                    <a:solidFill>
                      <a:srgbClr val="FFFFFF"/>
                    </a:solidFill>
                  </a:tcPr>
                </a:tc>
                <a:tc>
                  <a:txBody>
                    <a:bodyPr wrap="square"/>
                    <a:lstStyle/>
                    <a:p>
                      <a:pPr algn="l"/>
                      <a:r>
                        <a:rPr sz="1050" b="1">
                          <a:solidFill>
                            <a:srgbClr val="14212B"/>
                          </a:solidFill>
                          <a:latin typeface="Calibri"/>
                        </a:rPr>
                        <a:t>Getlink</a:t>
                      </a:r>
                    </a:p>
                  </a:txBody>
                  <a:tcPr marL="73152" marR="73152" marT="27432" marB="27432" anchor="ctr">
                    <a:solidFill>
                      <a:srgbClr val="FFFFFF"/>
                    </a:solidFill>
                  </a:tcPr>
                </a:tc>
                <a:tc>
                  <a:txBody>
                    <a:bodyPr wrap="square"/>
                    <a:lstStyle/>
                    <a:p>
                      <a:pPr algn="l"/>
                      <a:r>
                        <a:rPr sz="1050" b="0">
                          <a:solidFill>
                            <a:srgbClr val="14212B"/>
                          </a:solidFill>
                          <a:latin typeface="Calibri"/>
                        </a:rPr>
                        <a:t>Industrials</a:t>
                      </a:r>
                    </a:p>
                  </a:txBody>
                  <a:tcPr marL="73152" marR="73152" marT="27432" marB="27432" anchor="ctr">
                    <a:solidFill>
                      <a:srgbClr val="FFFFFF"/>
                    </a:solidFill>
                  </a:tcPr>
                </a:tc>
                <a:tc>
                  <a:txBody>
                    <a:bodyPr wrap="square"/>
                    <a:lstStyle/>
                    <a:p>
                      <a:pPr algn="l"/>
                      <a:r>
                        <a:rPr sz="1050" b="0">
                          <a:solidFill>
                            <a:srgbClr val="14212B"/>
                          </a:solidFill>
                          <a:latin typeface="Calibri"/>
                        </a:rPr>
                        <a:t>+27%</a:t>
                      </a:r>
                    </a:p>
                  </a:txBody>
                  <a:tcPr marL="73152" marR="73152" marT="27432" marB="27432" anchor="ctr">
                    <a:solidFill>
                      <a:srgbClr val="FFFFFF"/>
                    </a:solidFill>
                  </a:tcPr>
                </a:tc>
                <a:tc>
                  <a:txBody>
                    <a:bodyPr wrap="square"/>
                    <a:lstStyle/>
                    <a:p>
                      <a:pPr algn="l"/>
                      <a:r>
                        <a:rPr sz="1050" b="0">
                          <a:solidFill>
                            <a:srgbClr val="14212B"/>
                          </a:solidFill>
                          <a:latin typeface="Calibri"/>
                        </a:rPr>
                        <a:t>30</a:t>
                      </a:r>
                    </a:p>
                  </a:txBody>
                  <a:tcPr marL="73152" marR="73152" marT="27432" marB="27432" anchor="ctr">
                    <a:solidFill>
                      <a:srgbClr val="FFFFFF"/>
                    </a:solidFill>
                  </a:tcPr>
                </a:tc>
                <a:tc>
                  <a:txBody>
                    <a:bodyPr wrap="square"/>
                    <a:lstStyle/>
                    <a:p>
                      <a:pPr algn="l"/>
                      <a:r>
                        <a:rPr sz="1050" b="0">
                          <a:solidFill>
                            <a:srgbClr val="14212B"/>
                          </a:solidFill>
                          <a:latin typeface="Calibri"/>
                        </a:rPr>
                        <a:t>4.3%</a:t>
                      </a:r>
                    </a:p>
                  </a:txBody>
                  <a:tcPr marL="73152" marR="73152" marT="27432" marB="27432" anchor="ctr">
                    <a:solidFill>
                      <a:srgbClr val="FFFFFF"/>
                    </a:solidFill>
                  </a:tcPr>
                </a:tc>
                <a:tc>
                  <a:txBody>
                    <a:bodyPr wrap="square"/>
                    <a:lstStyle/>
                    <a:p>
                      <a:pPr algn="l"/>
                      <a:r>
                        <a:rPr sz="950" b="0">
                          <a:solidFill>
                            <a:srgbClr val="14212B"/>
                          </a:solidFill>
                          <a:latin typeface="Calibri"/>
                        </a:rPr>
                        <a:t>1-year +27% for 16% volatility; worst drop -7%; above 200-day average.</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10</a:t>
                      </a:r>
                    </a:p>
                  </a:txBody>
                  <a:tcPr marL="73152" marR="73152" marT="27432" marB="27432" anchor="ctr">
                    <a:solidFill>
                      <a:srgbClr val="F1F4F6"/>
                    </a:solidFill>
                  </a:tcPr>
                </a:tc>
                <a:tc>
                  <a:txBody>
                    <a:bodyPr wrap="square"/>
                    <a:lstStyle/>
                    <a:p>
                      <a:pPr algn="l"/>
                      <a:r>
                        <a:rPr sz="1050" b="1">
                          <a:solidFill>
                            <a:srgbClr val="14212B"/>
                          </a:solidFill>
                          <a:latin typeface="Calibri"/>
                        </a:rPr>
                        <a:t>Gaztransport &amp; Technigaz</a:t>
                      </a:r>
                    </a:p>
                  </a:txBody>
                  <a:tcPr marL="73152" marR="73152" marT="27432" marB="27432" anchor="ctr">
                    <a:solidFill>
                      <a:srgbClr val="F1F4F6"/>
                    </a:solidFill>
                  </a:tcPr>
                </a:tc>
                <a:tc>
                  <a:txBody>
                    <a:bodyPr wrap="square"/>
                    <a:lstStyle/>
                    <a:p>
                      <a:pPr algn="l"/>
                      <a:r>
                        <a:rPr sz="1050" b="0">
                          <a:solidFill>
                            <a:srgbClr val="14212B"/>
                          </a:solidFill>
                          <a:latin typeface="Calibri"/>
                        </a:rPr>
                        <a:t>Energy</a:t>
                      </a:r>
                    </a:p>
                  </a:txBody>
                  <a:tcPr marL="73152" marR="73152" marT="27432" marB="27432" anchor="ctr">
                    <a:solidFill>
                      <a:srgbClr val="F1F4F6"/>
                    </a:solidFill>
                  </a:tcPr>
                </a:tc>
                <a:tc>
                  <a:txBody>
                    <a:bodyPr wrap="square"/>
                    <a:lstStyle/>
                    <a:p>
                      <a:pPr algn="l"/>
                      <a:r>
                        <a:rPr sz="1050" b="0">
                          <a:solidFill>
                            <a:srgbClr val="14212B"/>
                          </a:solidFill>
                          <a:latin typeface="Calibri"/>
                        </a:rPr>
                        <a:t>+35%</a:t>
                      </a:r>
                    </a:p>
                  </a:txBody>
                  <a:tcPr marL="73152" marR="73152" marT="27432" marB="27432" anchor="ctr">
                    <a:solidFill>
                      <a:srgbClr val="F1F4F6"/>
                    </a:solidFill>
                  </a:tcPr>
                </a:tc>
                <a:tc>
                  <a:txBody>
                    <a:bodyPr wrap="square"/>
                    <a:lstStyle/>
                    <a:p>
                      <a:pPr algn="l"/>
                      <a:r>
                        <a:rPr sz="1050" b="0">
                          <a:solidFill>
                            <a:srgbClr val="14212B"/>
                          </a:solidFill>
                          <a:latin typeface="Calibri"/>
                        </a:rPr>
                        <a:t>18</a:t>
                      </a:r>
                    </a:p>
                  </a:txBody>
                  <a:tcPr marL="73152" marR="73152" marT="27432" marB="27432" anchor="ctr">
                    <a:solidFill>
                      <a:srgbClr val="F1F4F6"/>
                    </a:solidFill>
                  </a:tcPr>
                </a:tc>
                <a:tc>
                  <a:txBody>
                    <a:bodyPr wrap="square"/>
                    <a:lstStyle/>
                    <a:p>
                      <a:pPr algn="l"/>
                      <a:r>
                        <a:rPr sz="1050" b="0">
                          <a:solidFill>
                            <a:srgbClr val="14212B"/>
                          </a:solidFill>
                          <a:latin typeface="Calibri"/>
                        </a:rPr>
                        <a:t>4.3%</a:t>
                      </a:r>
                    </a:p>
                  </a:txBody>
                  <a:tcPr marL="73152" marR="73152" marT="27432" marB="27432" anchor="ctr">
                    <a:solidFill>
                      <a:srgbClr val="F1F4F6"/>
                    </a:solidFill>
                  </a:tcPr>
                </a:tc>
                <a:tc>
                  <a:txBody>
                    <a:bodyPr wrap="square"/>
                    <a:lstStyle/>
                    <a:p>
                      <a:pPr algn="l"/>
                      <a:r>
                        <a:rPr sz="950" b="0">
                          <a:solidFill>
                            <a:srgbClr val="14212B"/>
                          </a:solidFill>
                          <a:latin typeface="Calibri"/>
                        </a:rPr>
                        <a:t>1-year +35% for 25% volatility; worst drop -15%; above 200-day average. World-news headwind (Energy).</a:t>
                      </a:r>
                    </a:p>
                  </a:txBody>
                  <a:tcPr marL="73152" marR="73152" marT="27432" marB="27432" anchor="ctr">
                    <a:solidFill>
                      <a:srgbClr val="F1F4F6"/>
                    </a:solidFill>
                  </a:tcPr>
                </a:tc>
              </a:tr>
            </a:tbl>
          </a:graphicData>
        </a:graphic>
      </p:graphicFrame>
      <p:sp>
        <p:nvSpPr>
          <p:cNvPr id="5" name="TextBox 4"/>
          <p:cNvSpPr txBox="1"/>
          <p:nvPr/>
        </p:nvSpPr>
        <p:spPr>
          <a:xfrm>
            <a:off x="548640" y="6400800"/>
            <a:ext cx="11064240" cy="274320"/>
          </a:xfrm>
          <a:prstGeom prst="rect">
            <a:avLst/>
          </a:prstGeom>
          <a:noFill/>
        </p:spPr>
        <p:txBody>
          <a:bodyPr wrap="square" anchor="t" lIns="0" rIns="0" tIns="0" bIns="0">
            <a:spAutoFit/>
          </a:bodyPr>
          <a:lstStyle/>
          <a:p>
            <a:pPr algn="l"/>
            <a:r>
              <a:rPr sz="900" b="0" i="0">
                <a:solidFill>
                  <a:srgbClr val="5B6770"/>
                </a:solidFill>
                <a:latin typeface="Calibri"/>
              </a:rPr>
              <a:t>Score = return per unit of risk (35%) + small drawdowns (25%) + above 200-day average (15%) + lower P/E (15%) + dividend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anchor="t" lIns="0" rIns="0" tIns="0" bIns="0">
            <a:spAutoFit/>
          </a:bodyPr>
          <a:lstStyle/>
          <a:p>
            <a:pPr algn="l"/>
            <a:r>
              <a:rPr sz="1100" b="1" i="0">
                <a:solidFill>
                  <a:srgbClr val="D99A1E"/>
                </a:solidFill>
                <a:latin typeface="Calibri"/>
              </a:rPr>
              <a:t>RISK RATIO · LOWER RISK</a:t>
            </a:r>
          </a:p>
        </p:txBody>
      </p:sp>
      <p:sp>
        <p:nvSpPr>
          <p:cNvPr id="3" name="TextBox 2"/>
          <p:cNvSpPr txBox="1"/>
          <p:nvPr/>
        </p:nvSpPr>
        <p:spPr>
          <a:xfrm>
            <a:off x="548640" y="566928"/>
            <a:ext cx="11064240" cy="640080"/>
          </a:xfrm>
          <a:prstGeom prst="rect">
            <a:avLst/>
          </a:prstGeom>
          <a:noFill/>
        </p:spPr>
        <p:txBody>
          <a:bodyPr wrap="square" anchor="t" lIns="0" rIns="0" tIns="0" bIns="0">
            <a:spAutoFit/>
          </a:bodyPr>
          <a:lstStyle/>
          <a:p>
            <a:pPr algn="l"/>
            <a:r>
              <a:rPr sz="3000" b="1" i="0">
                <a:solidFill>
                  <a:srgbClr val="14212B"/>
                </a:solidFill>
                <a:latin typeface="Cambria"/>
              </a:rPr>
              <a:t>Lower-risk profile: best return for the risk</a:t>
            </a:r>
          </a:p>
        </p:txBody>
      </p:sp>
      <p:graphicFrame>
        <p:nvGraphicFramePr>
          <p:cNvPr id="4" name="Table 3"/>
          <p:cNvGraphicFramePr>
            <a:graphicFrameLocks noGrp="1"/>
          </p:cNvGraphicFramePr>
          <p:nvPr/>
        </p:nvGraphicFramePr>
        <p:xfrm>
          <a:off x="548640" y="1325880"/>
          <a:ext cx="11274552" cy="5029200"/>
        </p:xfrm>
        <a:graphic>
          <a:graphicData uri="http://schemas.openxmlformats.org/drawingml/2006/table">
            <a:tbl>
              <a:tblPr firstRow="1">
                <a:tableStyleId>{5C22544A-7EE6-4342-B048-85BDC9FD1C3A}</a:tableStyleId>
              </a:tblPr>
              <a:tblGrid>
                <a:gridCol w="365760"/>
                <a:gridCol w="2148840"/>
                <a:gridCol w="1600200"/>
                <a:gridCol w="914400"/>
                <a:gridCol w="1005840"/>
                <a:gridCol w="5239512"/>
              </a:tblGrid>
              <a:tr h="457200">
                <a:tc>
                  <a:txBody>
                    <a:bodyPr wrap="square"/>
                    <a:lstStyle/>
                    <a:p>
                      <a:pPr algn="l"/>
                      <a:r>
                        <a:rPr sz="1050" b="1">
                          <a:solidFill>
                            <a:srgbClr val="FFFFFF"/>
                          </a:solidFill>
                          <a:latin typeface="Calibri"/>
                        </a:rPr>
                        <a:t>#</a:t>
                      </a:r>
                    </a:p>
                  </a:txBody>
                  <a:tcPr marL="73152" marR="73152" marT="27432" marB="27432" anchor="ctr">
                    <a:solidFill>
                      <a:srgbClr val="1E9E6A"/>
                    </a:solidFill>
                  </a:tcPr>
                </a:tc>
                <a:tc>
                  <a:txBody>
                    <a:bodyPr wrap="square"/>
                    <a:lstStyle/>
                    <a:p>
                      <a:pPr algn="l"/>
                      <a:r>
                        <a:rPr sz="1050" b="1">
                          <a:solidFill>
                            <a:srgbClr val="FFFFFF"/>
                          </a:solidFill>
                          <a:latin typeface="Calibri"/>
                        </a:rPr>
                        <a:t>Company</a:t>
                      </a:r>
                    </a:p>
                  </a:txBody>
                  <a:tcPr marL="73152" marR="73152" marT="27432" marB="27432" anchor="ctr">
                    <a:solidFill>
                      <a:srgbClr val="1E9E6A"/>
                    </a:solidFill>
                  </a:tcPr>
                </a:tc>
                <a:tc>
                  <a:txBody>
                    <a:bodyPr wrap="square"/>
                    <a:lstStyle/>
                    <a:p>
                      <a:pPr algn="l"/>
                      <a:r>
                        <a:rPr sz="1050" b="1">
                          <a:solidFill>
                            <a:srgbClr val="FFFFFF"/>
                          </a:solidFill>
                          <a:latin typeface="Calibri"/>
                        </a:rPr>
                        <a:t>Sector</a:t>
                      </a:r>
                    </a:p>
                  </a:txBody>
                  <a:tcPr marL="73152" marR="73152" marT="27432" marB="27432" anchor="ctr">
                    <a:solidFill>
                      <a:srgbClr val="1E9E6A"/>
                    </a:solidFill>
                  </a:tcPr>
                </a:tc>
                <a:tc>
                  <a:txBody>
                    <a:bodyPr wrap="square"/>
                    <a:lstStyle/>
                    <a:p>
                      <a:pPr algn="l"/>
                      <a:r>
                        <a:rPr sz="1050" b="1">
                          <a:solidFill>
                            <a:srgbClr val="FFFFFF"/>
                          </a:solidFill>
                          <a:latin typeface="Calibri"/>
                        </a:rPr>
                        <a:t>Volatility</a:t>
                      </a:r>
                    </a:p>
                  </a:txBody>
                  <a:tcPr marL="73152" marR="73152" marT="27432" marB="27432" anchor="ctr">
                    <a:solidFill>
                      <a:srgbClr val="1E9E6A"/>
                    </a:solidFill>
                  </a:tcPr>
                </a:tc>
                <a:tc>
                  <a:txBody>
                    <a:bodyPr wrap="square"/>
                    <a:lstStyle/>
                    <a:p>
                      <a:pPr algn="l"/>
                      <a:r>
                        <a:rPr sz="1050" b="1">
                          <a:solidFill>
                            <a:srgbClr val="FFFFFF"/>
                          </a:solidFill>
                          <a:latin typeface="Calibri"/>
                        </a:rPr>
                        <a:t>Return / risk</a:t>
                      </a:r>
                    </a:p>
                  </a:txBody>
                  <a:tcPr marL="73152" marR="73152" marT="27432" marB="27432" anchor="ctr">
                    <a:solidFill>
                      <a:srgbClr val="1E9E6A"/>
                    </a:solidFill>
                  </a:tcPr>
                </a:tc>
                <a:tc>
                  <a:txBody>
                    <a:bodyPr wrap="square"/>
                    <a:lstStyle/>
                    <a:p>
                      <a:pPr algn="l"/>
                      <a:r>
                        <a:rPr sz="1050" b="1">
                          <a:solidFill>
                            <a:srgbClr val="FFFFFF"/>
                          </a:solidFill>
                          <a:latin typeface="Calibri"/>
                        </a:rPr>
                        <a:t>Profile</a:t>
                      </a:r>
                    </a:p>
                  </a:txBody>
                  <a:tcPr marL="73152" marR="73152" marT="27432" marB="27432" anchor="ctr">
                    <a:solidFill>
                      <a:srgbClr val="1E9E6A"/>
                    </a:solidFill>
                  </a:tcPr>
                </a:tc>
              </a:tr>
              <a:tr h="457200">
                <a:tc>
                  <a:txBody>
                    <a:bodyPr wrap="square"/>
                    <a:lstStyle/>
                    <a:p>
                      <a:pPr algn="l"/>
                      <a:r>
                        <a:rPr sz="1050" b="0">
                          <a:solidFill>
                            <a:srgbClr val="14212B"/>
                          </a:solidFill>
                          <a:latin typeface="Calibri"/>
                        </a:rPr>
                        <a:t>1</a:t>
                      </a:r>
                    </a:p>
                  </a:txBody>
                  <a:tcPr marL="73152" marR="73152" marT="27432" marB="27432" anchor="ctr">
                    <a:solidFill>
                      <a:srgbClr val="FFFFFF"/>
                    </a:solidFill>
                  </a:tcPr>
                </a:tc>
                <a:tc>
                  <a:txBody>
                    <a:bodyPr wrap="square"/>
                    <a:lstStyle/>
                    <a:p>
                      <a:pPr algn="l"/>
                      <a:r>
                        <a:rPr sz="1050" b="1">
                          <a:solidFill>
                            <a:srgbClr val="14212B"/>
                          </a:solidFill>
                          <a:latin typeface="Calibri"/>
                        </a:rPr>
                        <a:t>TotalEnergies</a:t>
                      </a:r>
                    </a:p>
                  </a:txBody>
                  <a:tcPr marL="73152" marR="73152" marT="27432" marB="27432" anchor="ctr">
                    <a:solidFill>
                      <a:srgbClr val="FFFFFF"/>
                    </a:solidFill>
                  </a:tcPr>
                </a:tc>
                <a:tc>
                  <a:txBody>
                    <a:bodyPr wrap="square"/>
                    <a:lstStyle/>
                    <a:p>
                      <a:pPr algn="l"/>
                      <a:r>
                        <a:rPr sz="1050" b="0">
                          <a:solidFill>
                            <a:srgbClr val="14212B"/>
                          </a:solidFill>
                          <a:latin typeface="Calibri"/>
                        </a:rPr>
                        <a:t>Energy</a:t>
                      </a:r>
                    </a:p>
                  </a:txBody>
                  <a:tcPr marL="73152" marR="73152" marT="27432" marB="27432" anchor="ctr">
                    <a:solidFill>
                      <a:srgbClr val="FFFFFF"/>
                    </a:solidFill>
                  </a:tcPr>
                </a:tc>
                <a:tc>
                  <a:txBody>
                    <a:bodyPr wrap="square"/>
                    <a:lstStyle/>
                    <a:p>
                      <a:pPr algn="l"/>
                      <a:r>
                        <a:rPr sz="1050" b="0">
                          <a:solidFill>
                            <a:srgbClr val="14212B"/>
                          </a:solidFill>
                          <a:latin typeface="Calibri"/>
                        </a:rPr>
                        <a:t>23%</a:t>
                      </a:r>
                    </a:p>
                  </a:txBody>
                  <a:tcPr marL="73152" marR="73152" marT="27432" marB="27432" anchor="ctr">
                    <a:solidFill>
                      <a:srgbClr val="FFFFFF"/>
                    </a:solidFill>
                  </a:tcPr>
                </a:tc>
                <a:tc>
                  <a:txBody>
                    <a:bodyPr wrap="square"/>
                    <a:lstStyle/>
                    <a:p>
                      <a:pPr algn="l"/>
                      <a:r>
                        <a:rPr sz="1050" b="0">
                          <a:solidFill>
                            <a:srgbClr val="14212B"/>
                          </a:solidFill>
                          <a:latin typeface="Calibri"/>
                        </a:rPr>
                        <a:t>2.33</a:t>
                      </a:r>
                    </a:p>
                  </a:txBody>
                  <a:tcPr marL="73152" marR="73152" marT="27432" marB="27432" anchor="ctr">
                    <a:solidFill>
                      <a:srgbClr val="FFFFFF"/>
                    </a:solidFill>
                  </a:tcPr>
                </a:tc>
                <a:tc>
                  <a:txBody>
                    <a:bodyPr wrap="square"/>
                    <a:lstStyle/>
                    <a:p>
                      <a:pPr algn="l"/>
                      <a:r>
                        <a:rPr sz="950" b="0">
                          <a:solidFill>
                            <a:srgbClr val="14212B"/>
                          </a:solidFill>
                          <a:latin typeface="Calibri"/>
                        </a:rPr>
                        <a:t>Beta -0.27 (moves -0.3x the CAC 40); worst drop -18%; 1-year +53%. World-news headwind (Energy).</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2</a:t>
                      </a:r>
                    </a:p>
                  </a:txBody>
                  <a:tcPr marL="73152" marR="73152" marT="27432" marB="27432" anchor="ctr">
                    <a:solidFill>
                      <a:srgbClr val="F1F4F6"/>
                    </a:solidFill>
                  </a:tcPr>
                </a:tc>
                <a:tc>
                  <a:txBody>
                    <a:bodyPr wrap="square"/>
                    <a:lstStyle/>
                    <a:p>
                      <a:pPr algn="l"/>
                      <a:r>
                        <a:rPr sz="1050" b="1">
                          <a:solidFill>
                            <a:srgbClr val="14212B"/>
                          </a:solidFill>
                          <a:latin typeface="Calibri"/>
                        </a:rPr>
                        <a:t>Getlink</a:t>
                      </a:r>
                    </a:p>
                  </a:txBody>
                  <a:tcPr marL="73152" marR="73152" marT="27432" marB="27432" anchor="ctr">
                    <a:solidFill>
                      <a:srgbClr val="F1F4F6"/>
                    </a:solidFill>
                  </a:tcPr>
                </a:tc>
                <a:tc>
                  <a:txBody>
                    <a:bodyPr wrap="square"/>
                    <a:lstStyle/>
                    <a:p>
                      <a:pPr algn="l"/>
                      <a:r>
                        <a:rPr sz="1050" b="0">
                          <a:solidFill>
                            <a:srgbClr val="14212B"/>
                          </a:solidFill>
                          <a:latin typeface="Calibri"/>
                        </a:rPr>
                        <a:t>Industrials</a:t>
                      </a:r>
                    </a:p>
                  </a:txBody>
                  <a:tcPr marL="73152" marR="73152" marT="27432" marB="27432" anchor="ctr">
                    <a:solidFill>
                      <a:srgbClr val="F1F4F6"/>
                    </a:solidFill>
                  </a:tcPr>
                </a:tc>
                <a:tc>
                  <a:txBody>
                    <a:bodyPr wrap="square"/>
                    <a:lstStyle/>
                    <a:p>
                      <a:pPr algn="l"/>
                      <a:r>
                        <a:rPr sz="1050" b="0">
                          <a:solidFill>
                            <a:srgbClr val="14212B"/>
                          </a:solidFill>
                          <a:latin typeface="Calibri"/>
                        </a:rPr>
                        <a:t>16%</a:t>
                      </a:r>
                    </a:p>
                  </a:txBody>
                  <a:tcPr marL="73152" marR="73152" marT="27432" marB="27432" anchor="ctr">
                    <a:solidFill>
                      <a:srgbClr val="F1F4F6"/>
                    </a:solidFill>
                  </a:tcPr>
                </a:tc>
                <a:tc>
                  <a:txBody>
                    <a:bodyPr wrap="square"/>
                    <a:lstStyle/>
                    <a:p>
                      <a:pPr algn="l"/>
                      <a:r>
                        <a:rPr sz="1050" b="0">
                          <a:solidFill>
                            <a:srgbClr val="14212B"/>
                          </a:solidFill>
                          <a:latin typeface="Calibri"/>
                        </a:rPr>
                        <a:t>1.70</a:t>
                      </a:r>
                    </a:p>
                  </a:txBody>
                  <a:tcPr marL="73152" marR="73152" marT="27432" marB="27432" anchor="ctr">
                    <a:solidFill>
                      <a:srgbClr val="F1F4F6"/>
                    </a:solidFill>
                  </a:tcPr>
                </a:tc>
                <a:tc>
                  <a:txBody>
                    <a:bodyPr wrap="square"/>
                    <a:lstStyle/>
                    <a:p>
                      <a:pPr algn="l"/>
                      <a:r>
                        <a:rPr sz="950" b="0">
                          <a:solidFill>
                            <a:srgbClr val="14212B"/>
                          </a:solidFill>
                          <a:latin typeface="Calibri"/>
                        </a:rPr>
                        <a:t>Beta 0.39 (moves 0.4x the CAC 40); worst drop -7%; 1-year +27%.</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3</a:t>
                      </a:r>
                    </a:p>
                  </a:txBody>
                  <a:tcPr marL="73152" marR="73152" marT="27432" marB="27432" anchor="ctr">
                    <a:solidFill>
                      <a:srgbClr val="FFFFFF"/>
                    </a:solidFill>
                  </a:tcPr>
                </a:tc>
                <a:tc>
                  <a:txBody>
                    <a:bodyPr wrap="square"/>
                    <a:lstStyle/>
                    <a:p>
                      <a:pPr algn="l"/>
                      <a:r>
                        <a:rPr sz="1050" b="1">
                          <a:solidFill>
                            <a:srgbClr val="14212B"/>
                          </a:solidFill>
                          <a:latin typeface="Calibri"/>
                        </a:rPr>
                        <a:t>Amundi</a:t>
                      </a:r>
                    </a:p>
                  </a:txBody>
                  <a:tcPr marL="73152" marR="73152" marT="27432" marB="27432" anchor="ctr">
                    <a:solidFill>
                      <a:srgbClr val="FFFFFF"/>
                    </a:solidFill>
                  </a:tcPr>
                </a:tc>
                <a:tc>
                  <a:txBody>
                    <a:bodyPr wrap="square"/>
                    <a:lstStyle/>
                    <a:p>
                      <a:pPr algn="l"/>
                      <a:r>
                        <a:rPr sz="1050" b="0">
                          <a:solidFill>
                            <a:srgbClr val="14212B"/>
                          </a:solidFill>
                          <a:latin typeface="Calibri"/>
                        </a:rPr>
                        <a:t>Financial Services</a:t>
                      </a:r>
                    </a:p>
                  </a:txBody>
                  <a:tcPr marL="73152" marR="73152" marT="27432" marB="27432" anchor="ctr">
                    <a:solidFill>
                      <a:srgbClr val="FFFFFF"/>
                    </a:solidFill>
                  </a:tcPr>
                </a:tc>
                <a:tc>
                  <a:txBody>
                    <a:bodyPr wrap="square"/>
                    <a:lstStyle/>
                    <a:p>
                      <a:pPr algn="l"/>
                      <a:r>
                        <a:rPr sz="1050" b="0">
                          <a:solidFill>
                            <a:srgbClr val="14212B"/>
                          </a:solidFill>
                          <a:latin typeface="Calibri"/>
                        </a:rPr>
                        <a:t>23%</a:t>
                      </a:r>
                    </a:p>
                  </a:txBody>
                  <a:tcPr marL="73152" marR="73152" marT="27432" marB="27432" anchor="ctr">
                    <a:solidFill>
                      <a:srgbClr val="FFFFFF"/>
                    </a:solidFill>
                  </a:tcPr>
                </a:tc>
                <a:tc>
                  <a:txBody>
                    <a:bodyPr wrap="square"/>
                    <a:lstStyle/>
                    <a:p>
                      <a:pPr algn="l"/>
                      <a:r>
                        <a:rPr sz="1050" b="0">
                          <a:solidFill>
                            <a:srgbClr val="14212B"/>
                          </a:solidFill>
                          <a:latin typeface="Calibri"/>
                        </a:rPr>
                        <a:t>1.61</a:t>
                      </a:r>
                    </a:p>
                  </a:txBody>
                  <a:tcPr marL="73152" marR="73152" marT="27432" marB="27432" anchor="ctr">
                    <a:solidFill>
                      <a:srgbClr val="FFFFFF"/>
                    </a:solidFill>
                  </a:tcPr>
                </a:tc>
                <a:tc>
                  <a:txBody>
                    <a:bodyPr wrap="square"/>
                    <a:lstStyle/>
                    <a:p>
                      <a:pPr algn="l"/>
                      <a:r>
                        <a:rPr sz="950" b="0">
                          <a:solidFill>
                            <a:srgbClr val="14212B"/>
                          </a:solidFill>
                          <a:latin typeface="Calibri"/>
                        </a:rPr>
                        <a:t>Beta 0.89 (moves 0.9x the CAC 40); worst drop -12%; 1-year +37%.</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4</a:t>
                      </a:r>
                    </a:p>
                  </a:txBody>
                  <a:tcPr marL="73152" marR="73152" marT="27432" marB="27432" anchor="ctr">
                    <a:solidFill>
                      <a:srgbClr val="F1F4F6"/>
                    </a:solidFill>
                  </a:tcPr>
                </a:tc>
                <a:tc>
                  <a:txBody>
                    <a:bodyPr wrap="square"/>
                    <a:lstStyle/>
                    <a:p>
                      <a:pPr algn="l"/>
                      <a:r>
                        <a:rPr sz="1050" b="1">
                          <a:solidFill>
                            <a:srgbClr val="14212B"/>
                          </a:solidFill>
                          <a:latin typeface="Calibri"/>
                        </a:rPr>
                        <a:t>Carrefour</a:t>
                      </a:r>
                    </a:p>
                  </a:txBody>
                  <a:tcPr marL="73152" marR="73152" marT="27432" marB="27432" anchor="ctr">
                    <a:solidFill>
                      <a:srgbClr val="F1F4F6"/>
                    </a:solidFill>
                  </a:tcPr>
                </a:tc>
                <a:tc>
                  <a:txBody>
                    <a:bodyPr wrap="square"/>
                    <a:lstStyle/>
                    <a:p>
                      <a:pPr algn="l"/>
                      <a:r>
                        <a:rPr sz="1050" b="0">
                          <a:solidFill>
                            <a:srgbClr val="14212B"/>
                          </a:solidFill>
                          <a:latin typeface="Calibri"/>
                        </a:rPr>
                        <a:t>Consumer Defensive</a:t>
                      </a:r>
                    </a:p>
                  </a:txBody>
                  <a:tcPr marL="73152" marR="73152" marT="27432" marB="27432" anchor="ctr">
                    <a:solidFill>
                      <a:srgbClr val="F1F4F6"/>
                    </a:solidFill>
                  </a:tcPr>
                </a:tc>
                <a:tc>
                  <a:txBody>
                    <a:bodyPr wrap="square"/>
                    <a:lstStyle/>
                    <a:p>
                      <a:pPr algn="l"/>
                      <a:r>
                        <a:rPr sz="1050" b="0">
                          <a:solidFill>
                            <a:srgbClr val="14212B"/>
                          </a:solidFill>
                          <a:latin typeface="Calibri"/>
                        </a:rPr>
                        <a:t>22%</a:t>
                      </a:r>
                    </a:p>
                  </a:txBody>
                  <a:tcPr marL="73152" marR="73152" marT="27432" marB="27432" anchor="ctr">
                    <a:solidFill>
                      <a:srgbClr val="F1F4F6"/>
                    </a:solidFill>
                  </a:tcPr>
                </a:tc>
                <a:tc>
                  <a:txBody>
                    <a:bodyPr wrap="square"/>
                    <a:lstStyle/>
                    <a:p>
                      <a:pPr algn="l"/>
                      <a:r>
                        <a:rPr sz="1050" b="0">
                          <a:solidFill>
                            <a:srgbClr val="14212B"/>
                          </a:solidFill>
                          <a:latin typeface="Calibri"/>
                        </a:rPr>
                        <a:t>1.44</a:t>
                      </a:r>
                    </a:p>
                  </a:txBody>
                  <a:tcPr marL="73152" marR="73152" marT="27432" marB="27432" anchor="ctr">
                    <a:solidFill>
                      <a:srgbClr val="F1F4F6"/>
                    </a:solidFill>
                  </a:tcPr>
                </a:tc>
                <a:tc>
                  <a:txBody>
                    <a:bodyPr wrap="square"/>
                    <a:lstStyle/>
                    <a:p>
                      <a:pPr algn="l"/>
                      <a:r>
                        <a:rPr sz="950" b="0">
                          <a:solidFill>
                            <a:srgbClr val="14212B"/>
                          </a:solidFill>
                          <a:latin typeface="Calibri"/>
                        </a:rPr>
                        <a:t>Beta 0.31 (moves 0.3x the CAC 40); worst drop -8%; 1-year +32%.</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5</a:t>
                      </a:r>
                    </a:p>
                  </a:txBody>
                  <a:tcPr marL="73152" marR="73152" marT="27432" marB="27432" anchor="ctr">
                    <a:solidFill>
                      <a:srgbClr val="FFFFFF"/>
                    </a:solidFill>
                  </a:tcPr>
                </a:tc>
                <a:tc>
                  <a:txBody>
                    <a:bodyPr wrap="square"/>
                    <a:lstStyle/>
                    <a:p>
                      <a:pPr algn="l"/>
                      <a:r>
                        <a:rPr sz="1050" b="1">
                          <a:solidFill>
                            <a:srgbClr val="14212B"/>
                          </a:solidFill>
                          <a:latin typeface="Calibri"/>
                        </a:rPr>
                        <a:t>Gaztransport &amp; Technigaz</a:t>
                      </a:r>
                    </a:p>
                  </a:txBody>
                  <a:tcPr marL="73152" marR="73152" marT="27432" marB="27432" anchor="ctr">
                    <a:solidFill>
                      <a:srgbClr val="FFFFFF"/>
                    </a:solidFill>
                  </a:tcPr>
                </a:tc>
                <a:tc>
                  <a:txBody>
                    <a:bodyPr wrap="square"/>
                    <a:lstStyle/>
                    <a:p>
                      <a:pPr algn="l"/>
                      <a:r>
                        <a:rPr sz="1050" b="0">
                          <a:solidFill>
                            <a:srgbClr val="14212B"/>
                          </a:solidFill>
                          <a:latin typeface="Calibri"/>
                        </a:rPr>
                        <a:t>Energy</a:t>
                      </a:r>
                    </a:p>
                  </a:txBody>
                  <a:tcPr marL="73152" marR="73152" marT="27432" marB="27432" anchor="ctr">
                    <a:solidFill>
                      <a:srgbClr val="FFFFFF"/>
                    </a:solidFill>
                  </a:tcPr>
                </a:tc>
                <a:tc>
                  <a:txBody>
                    <a:bodyPr wrap="square"/>
                    <a:lstStyle/>
                    <a:p>
                      <a:pPr algn="l"/>
                      <a:r>
                        <a:rPr sz="1050" b="0">
                          <a:solidFill>
                            <a:srgbClr val="14212B"/>
                          </a:solidFill>
                          <a:latin typeface="Calibri"/>
                        </a:rPr>
                        <a:t>25%</a:t>
                      </a:r>
                    </a:p>
                  </a:txBody>
                  <a:tcPr marL="73152" marR="73152" marT="27432" marB="27432" anchor="ctr">
                    <a:solidFill>
                      <a:srgbClr val="FFFFFF"/>
                    </a:solidFill>
                  </a:tcPr>
                </a:tc>
                <a:tc>
                  <a:txBody>
                    <a:bodyPr wrap="square"/>
                    <a:lstStyle/>
                    <a:p>
                      <a:pPr algn="l"/>
                      <a:r>
                        <a:rPr sz="1050" b="0">
                          <a:solidFill>
                            <a:srgbClr val="14212B"/>
                          </a:solidFill>
                          <a:latin typeface="Calibri"/>
                        </a:rPr>
                        <a:t>1.40</a:t>
                      </a:r>
                    </a:p>
                  </a:txBody>
                  <a:tcPr marL="73152" marR="73152" marT="27432" marB="27432" anchor="ctr">
                    <a:solidFill>
                      <a:srgbClr val="FFFFFF"/>
                    </a:solidFill>
                  </a:tcPr>
                </a:tc>
                <a:tc>
                  <a:txBody>
                    <a:bodyPr wrap="square"/>
                    <a:lstStyle/>
                    <a:p>
                      <a:pPr algn="l"/>
                      <a:r>
                        <a:rPr sz="950" b="0">
                          <a:solidFill>
                            <a:srgbClr val="14212B"/>
                          </a:solidFill>
                          <a:latin typeface="Calibri"/>
                        </a:rPr>
                        <a:t>Beta 0.13 (moves 0.1x the CAC 40); worst drop -15%; 1-year +35%. World-news headwind (Energy).</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6</a:t>
                      </a:r>
                    </a:p>
                  </a:txBody>
                  <a:tcPr marL="73152" marR="73152" marT="27432" marB="27432" anchor="ctr">
                    <a:solidFill>
                      <a:srgbClr val="F1F4F6"/>
                    </a:solidFill>
                  </a:tcPr>
                </a:tc>
                <a:tc>
                  <a:txBody>
                    <a:bodyPr wrap="square"/>
                    <a:lstStyle/>
                    <a:p>
                      <a:pPr algn="l"/>
                      <a:r>
                        <a:rPr sz="1050" b="1">
                          <a:solidFill>
                            <a:srgbClr val="14212B"/>
                          </a:solidFill>
                          <a:latin typeface="Calibri"/>
                        </a:rPr>
                        <a:t>Euronext</a:t>
                      </a:r>
                    </a:p>
                  </a:txBody>
                  <a:tcPr marL="73152" marR="73152" marT="27432" marB="27432" anchor="ctr">
                    <a:solidFill>
                      <a:srgbClr val="F1F4F6"/>
                    </a:solidFill>
                  </a:tcPr>
                </a:tc>
                <a:tc>
                  <a:txBody>
                    <a:bodyPr wrap="square"/>
                    <a:lstStyle/>
                    <a:p>
                      <a:pPr algn="l"/>
                      <a:r>
                        <a:rPr sz="1050" b="0">
                          <a:solidFill>
                            <a:srgbClr val="14212B"/>
                          </a:solidFill>
                          <a:latin typeface="Calibri"/>
                        </a:rPr>
                        <a:t>Financial Services</a:t>
                      </a:r>
                    </a:p>
                  </a:txBody>
                  <a:tcPr marL="73152" marR="73152" marT="27432" marB="27432" anchor="ctr">
                    <a:solidFill>
                      <a:srgbClr val="F1F4F6"/>
                    </a:solidFill>
                  </a:tcPr>
                </a:tc>
                <a:tc>
                  <a:txBody>
                    <a:bodyPr wrap="square"/>
                    <a:lstStyle/>
                    <a:p>
                      <a:pPr algn="l"/>
                      <a:r>
                        <a:rPr sz="1050" b="0">
                          <a:solidFill>
                            <a:srgbClr val="14212B"/>
                          </a:solidFill>
                          <a:latin typeface="Calibri"/>
                        </a:rPr>
                        <a:t>22%</a:t>
                      </a:r>
                    </a:p>
                  </a:txBody>
                  <a:tcPr marL="73152" marR="73152" marT="27432" marB="27432" anchor="ctr">
                    <a:solidFill>
                      <a:srgbClr val="F1F4F6"/>
                    </a:solidFill>
                  </a:tcPr>
                </a:tc>
                <a:tc>
                  <a:txBody>
                    <a:bodyPr wrap="square"/>
                    <a:lstStyle/>
                    <a:p>
                      <a:pPr algn="l"/>
                      <a:r>
                        <a:rPr sz="1050" b="0">
                          <a:solidFill>
                            <a:srgbClr val="14212B"/>
                          </a:solidFill>
                          <a:latin typeface="Calibri"/>
                        </a:rPr>
                        <a:t>1.37</a:t>
                      </a:r>
                    </a:p>
                  </a:txBody>
                  <a:tcPr marL="73152" marR="73152" marT="27432" marB="27432" anchor="ctr">
                    <a:solidFill>
                      <a:srgbClr val="F1F4F6"/>
                    </a:solidFill>
                  </a:tcPr>
                </a:tc>
                <a:tc>
                  <a:txBody>
                    <a:bodyPr wrap="square"/>
                    <a:lstStyle/>
                    <a:p>
                      <a:pPr algn="l"/>
                      <a:r>
                        <a:rPr sz="950" b="0">
                          <a:solidFill>
                            <a:srgbClr val="14212B"/>
                          </a:solidFill>
                          <a:latin typeface="Calibri"/>
                        </a:rPr>
                        <a:t>Beta 0.13 (moves 0.1x the CAC 40); worst drop -14%; 1-year +30%.</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7</a:t>
                      </a:r>
                    </a:p>
                  </a:txBody>
                  <a:tcPr marL="73152" marR="73152" marT="27432" marB="27432" anchor="ctr">
                    <a:solidFill>
                      <a:srgbClr val="FFFFFF"/>
                    </a:solidFill>
                  </a:tcPr>
                </a:tc>
                <a:tc>
                  <a:txBody>
                    <a:bodyPr wrap="square"/>
                    <a:lstStyle/>
                    <a:p>
                      <a:pPr algn="l"/>
                      <a:r>
                        <a:rPr sz="1050" b="1">
                          <a:solidFill>
                            <a:srgbClr val="14212B"/>
                          </a:solidFill>
                          <a:latin typeface="Calibri"/>
                        </a:rPr>
                        <a:t>Société BIC</a:t>
                      </a:r>
                    </a:p>
                  </a:txBody>
                  <a:tcPr marL="73152" marR="73152" marT="27432" marB="27432" anchor="ctr">
                    <a:solidFill>
                      <a:srgbClr val="FFFFFF"/>
                    </a:solidFill>
                  </a:tcPr>
                </a:tc>
                <a:tc>
                  <a:txBody>
                    <a:bodyPr wrap="square"/>
                    <a:lstStyle/>
                    <a:p>
                      <a:pPr algn="l"/>
                      <a:r>
                        <a:rPr sz="1050" b="0">
                          <a:solidFill>
                            <a:srgbClr val="14212B"/>
                          </a:solidFill>
                          <a:latin typeface="Calibri"/>
                        </a:rPr>
                        <a:t>Consumer Defensive</a:t>
                      </a:r>
                    </a:p>
                  </a:txBody>
                  <a:tcPr marL="73152" marR="73152" marT="27432" marB="27432" anchor="ctr">
                    <a:solidFill>
                      <a:srgbClr val="FFFFFF"/>
                    </a:solidFill>
                  </a:tcPr>
                </a:tc>
                <a:tc>
                  <a:txBody>
                    <a:bodyPr wrap="square"/>
                    <a:lstStyle/>
                    <a:p>
                      <a:pPr algn="l"/>
                      <a:r>
                        <a:rPr sz="1050" b="0">
                          <a:solidFill>
                            <a:srgbClr val="14212B"/>
                          </a:solidFill>
                          <a:latin typeface="Calibri"/>
                        </a:rPr>
                        <a:t>22%</a:t>
                      </a:r>
                    </a:p>
                  </a:txBody>
                  <a:tcPr marL="73152" marR="73152" marT="27432" marB="27432" anchor="ctr">
                    <a:solidFill>
                      <a:srgbClr val="FFFFFF"/>
                    </a:solidFill>
                  </a:tcPr>
                </a:tc>
                <a:tc>
                  <a:txBody>
                    <a:bodyPr wrap="square"/>
                    <a:lstStyle/>
                    <a:p>
                      <a:pPr algn="l"/>
                      <a:r>
                        <a:rPr sz="1050" b="0">
                          <a:solidFill>
                            <a:srgbClr val="14212B"/>
                          </a:solidFill>
                          <a:latin typeface="Calibri"/>
                        </a:rPr>
                        <a:t>1.35</a:t>
                      </a:r>
                    </a:p>
                  </a:txBody>
                  <a:tcPr marL="73152" marR="73152" marT="27432" marB="27432" anchor="ctr">
                    <a:solidFill>
                      <a:srgbClr val="FFFFFF"/>
                    </a:solidFill>
                  </a:tcPr>
                </a:tc>
                <a:tc>
                  <a:txBody>
                    <a:bodyPr wrap="square"/>
                    <a:lstStyle/>
                    <a:p>
                      <a:pPr algn="l"/>
                      <a:r>
                        <a:rPr sz="950" b="0">
                          <a:solidFill>
                            <a:srgbClr val="14212B"/>
                          </a:solidFill>
                          <a:latin typeface="Calibri"/>
                        </a:rPr>
                        <a:t>Beta 0.58 (moves 0.6x the CAC 40); worst drop -14%; 1-year +30%.</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8</a:t>
                      </a:r>
                    </a:p>
                  </a:txBody>
                  <a:tcPr marL="73152" marR="73152" marT="27432" marB="27432" anchor="ctr">
                    <a:solidFill>
                      <a:srgbClr val="F1F4F6"/>
                    </a:solidFill>
                  </a:tcPr>
                </a:tc>
                <a:tc>
                  <a:txBody>
                    <a:bodyPr wrap="square"/>
                    <a:lstStyle/>
                    <a:p>
                      <a:pPr algn="l"/>
                      <a:r>
                        <a:rPr sz="1050" b="1">
                          <a:solidFill>
                            <a:srgbClr val="14212B"/>
                          </a:solidFill>
                          <a:latin typeface="Calibri"/>
                        </a:rPr>
                        <a:t>Engie</a:t>
                      </a:r>
                    </a:p>
                  </a:txBody>
                  <a:tcPr marL="73152" marR="73152" marT="27432" marB="27432" anchor="ctr">
                    <a:solidFill>
                      <a:srgbClr val="F1F4F6"/>
                    </a:solidFill>
                  </a:tcPr>
                </a:tc>
                <a:tc>
                  <a:txBody>
                    <a:bodyPr wrap="square"/>
                    <a:lstStyle/>
                    <a:p>
                      <a:pPr algn="l"/>
                      <a:r>
                        <a:rPr sz="1050" b="0">
                          <a:solidFill>
                            <a:srgbClr val="14212B"/>
                          </a:solidFill>
                          <a:latin typeface="Calibri"/>
                        </a:rPr>
                        <a:t>Utilities</a:t>
                      </a:r>
                    </a:p>
                  </a:txBody>
                  <a:tcPr marL="73152" marR="73152" marT="27432" marB="27432" anchor="ctr">
                    <a:solidFill>
                      <a:srgbClr val="F1F4F6"/>
                    </a:solidFill>
                  </a:tcPr>
                </a:tc>
                <a:tc>
                  <a:txBody>
                    <a:bodyPr wrap="square"/>
                    <a:lstStyle/>
                    <a:p>
                      <a:pPr algn="l"/>
                      <a:r>
                        <a:rPr sz="1050" b="0">
                          <a:solidFill>
                            <a:srgbClr val="14212B"/>
                          </a:solidFill>
                          <a:latin typeface="Calibri"/>
                        </a:rPr>
                        <a:t>22%</a:t>
                      </a:r>
                    </a:p>
                  </a:txBody>
                  <a:tcPr marL="73152" marR="73152" marT="27432" marB="27432" anchor="ctr">
                    <a:solidFill>
                      <a:srgbClr val="F1F4F6"/>
                    </a:solidFill>
                  </a:tcPr>
                </a:tc>
                <a:tc>
                  <a:txBody>
                    <a:bodyPr wrap="square"/>
                    <a:lstStyle/>
                    <a:p>
                      <a:pPr algn="l"/>
                      <a:r>
                        <a:rPr sz="1050" b="0">
                          <a:solidFill>
                            <a:srgbClr val="14212B"/>
                          </a:solidFill>
                          <a:latin typeface="Calibri"/>
                        </a:rPr>
                        <a:t>1.31</a:t>
                      </a:r>
                    </a:p>
                  </a:txBody>
                  <a:tcPr marL="73152" marR="73152" marT="27432" marB="27432" anchor="ctr">
                    <a:solidFill>
                      <a:srgbClr val="F1F4F6"/>
                    </a:solidFill>
                  </a:tcPr>
                </a:tc>
                <a:tc>
                  <a:txBody>
                    <a:bodyPr wrap="square"/>
                    <a:lstStyle/>
                    <a:p>
                      <a:pPr algn="l"/>
                      <a:r>
                        <a:rPr sz="950" b="0">
                          <a:solidFill>
                            <a:srgbClr val="14212B"/>
                          </a:solidFill>
                          <a:latin typeface="Calibri"/>
                        </a:rPr>
                        <a:t>Beta 0.53 (moves 0.5x the CAC 40); worst drop -20%; 1-year +29%.</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9</a:t>
                      </a:r>
                    </a:p>
                  </a:txBody>
                  <a:tcPr marL="73152" marR="73152" marT="27432" marB="27432" anchor="ctr">
                    <a:solidFill>
                      <a:srgbClr val="FFFFFF"/>
                    </a:solidFill>
                  </a:tcPr>
                </a:tc>
                <a:tc>
                  <a:txBody>
                    <a:bodyPr wrap="square"/>
                    <a:lstStyle/>
                    <a:p>
                      <a:pPr algn="l"/>
                      <a:r>
                        <a:rPr sz="1050" b="1">
                          <a:solidFill>
                            <a:srgbClr val="14212B"/>
                          </a:solidFill>
                          <a:latin typeface="Calibri"/>
                        </a:rPr>
                        <a:t>Klépierre</a:t>
                      </a:r>
                    </a:p>
                  </a:txBody>
                  <a:tcPr marL="73152" marR="73152" marT="27432" marB="27432" anchor="ctr">
                    <a:solidFill>
                      <a:srgbClr val="FFFFFF"/>
                    </a:solidFill>
                  </a:tcPr>
                </a:tc>
                <a:tc>
                  <a:txBody>
                    <a:bodyPr wrap="square"/>
                    <a:lstStyle/>
                    <a:p>
                      <a:pPr algn="l"/>
                      <a:r>
                        <a:rPr sz="1050" b="0">
                          <a:solidFill>
                            <a:srgbClr val="14212B"/>
                          </a:solidFill>
                          <a:latin typeface="Calibri"/>
                        </a:rPr>
                        <a:t>Real Estate</a:t>
                      </a:r>
                    </a:p>
                  </a:txBody>
                  <a:tcPr marL="73152" marR="73152" marT="27432" marB="27432" anchor="ctr">
                    <a:solidFill>
                      <a:srgbClr val="FFFFFF"/>
                    </a:solidFill>
                  </a:tcPr>
                </a:tc>
                <a:tc>
                  <a:txBody>
                    <a:bodyPr wrap="square"/>
                    <a:lstStyle/>
                    <a:p>
                      <a:pPr algn="l"/>
                      <a:r>
                        <a:rPr sz="1050" b="0">
                          <a:solidFill>
                            <a:srgbClr val="14212B"/>
                          </a:solidFill>
                          <a:latin typeface="Calibri"/>
                        </a:rPr>
                        <a:t>16%</a:t>
                      </a:r>
                    </a:p>
                  </a:txBody>
                  <a:tcPr marL="73152" marR="73152" marT="27432" marB="27432" anchor="ctr">
                    <a:solidFill>
                      <a:srgbClr val="FFFFFF"/>
                    </a:solidFill>
                  </a:tcPr>
                </a:tc>
                <a:tc>
                  <a:txBody>
                    <a:bodyPr wrap="square"/>
                    <a:lstStyle/>
                    <a:p>
                      <a:pPr algn="l"/>
                      <a:r>
                        <a:rPr sz="1050" b="0">
                          <a:solidFill>
                            <a:srgbClr val="14212B"/>
                          </a:solidFill>
                          <a:latin typeface="Calibri"/>
                        </a:rPr>
                        <a:t>0.94</a:t>
                      </a:r>
                    </a:p>
                  </a:txBody>
                  <a:tcPr marL="73152" marR="73152" marT="27432" marB="27432" anchor="ctr">
                    <a:solidFill>
                      <a:srgbClr val="FFFFFF"/>
                    </a:solidFill>
                  </a:tcPr>
                </a:tc>
                <a:tc>
                  <a:txBody>
                    <a:bodyPr wrap="square"/>
                    <a:lstStyle/>
                    <a:p>
                      <a:pPr algn="l"/>
                      <a:r>
                        <a:rPr sz="950" b="0">
                          <a:solidFill>
                            <a:srgbClr val="14212B"/>
                          </a:solidFill>
                          <a:latin typeface="Calibri"/>
                        </a:rPr>
                        <a:t>Beta 0.40 (moves 0.4x the CAC 40); worst drop -14%; 1-year +15%.</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10</a:t>
                      </a:r>
                    </a:p>
                  </a:txBody>
                  <a:tcPr marL="73152" marR="73152" marT="27432" marB="27432" anchor="ctr">
                    <a:solidFill>
                      <a:srgbClr val="F1F4F6"/>
                    </a:solidFill>
                  </a:tcPr>
                </a:tc>
                <a:tc>
                  <a:txBody>
                    <a:bodyPr wrap="square"/>
                    <a:lstStyle/>
                    <a:p>
                      <a:pPr algn="l"/>
                      <a:r>
                        <a:rPr sz="1050" b="1">
                          <a:solidFill>
                            <a:srgbClr val="14212B"/>
                          </a:solidFill>
                          <a:latin typeface="Calibri"/>
                        </a:rPr>
                        <a:t>Louis Hachette Group</a:t>
                      </a:r>
                    </a:p>
                  </a:txBody>
                  <a:tcPr marL="73152" marR="73152" marT="27432" marB="27432" anchor="ctr">
                    <a:solidFill>
                      <a:srgbClr val="F1F4F6"/>
                    </a:solidFill>
                  </a:tcPr>
                </a:tc>
                <a:tc>
                  <a:txBody>
                    <a:bodyPr wrap="square"/>
                    <a:lstStyle/>
                    <a:p>
                      <a:pPr algn="l"/>
                      <a:r>
                        <a:rPr sz="1050" b="0">
                          <a:solidFill>
                            <a:srgbClr val="14212B"/>
                          </a:solidFill>
                          <a:latin typeface="Calibri"/>
                        </a:rPr>
                        <a:t>Industrials</a:t>
                      </a:r>
                    </a:p>
                  </a:txBody>
                  <a:tcPr marL="73152" marR="73152" marT="27432" marB="27432" anchor="ctr">
                    <a:solidFill>
                      <a:srgbClr val="F1F4F6"/>
                    </a:solidFill>
                  </a:tcPr>
                </a:tc>
                <a:tc>
                  <a:txBody>
                    <a:bodyPr wrap="square"/>
                    <a:lstStyle/>
                    <a:p>
                      <a:pPr algn="l"/>
                      <a:r>
                        <a:rPr sz="1050" b="0">
                          <a:solidFill>
                            <a:srgbClr val="14212B"/>
                          </a:solidFill>
                          <a:latin typeface="Calibri"/>
                        </a:rPr>
                        <a:t>21%</a:t>
                      </a:r>
                    </a:p>
                  </a:txBody>
                  <a:tcPr marL="73152" marR="73152" marT="27432" marB="27432" anchor="ctr">
                    <a:solidFill>
                      <a:srgbClr val="F1F4F6"/>
                    </a:solidFill>
                  </a:tcPr>
                </a:tc>
                <a:tc>
                  <a:txBody>
                    <a:bodyPr wrap="square"/>
                    <a:lstStyle/>
                    <a:p>
                      <a:pPr algn="l"/>
                      <a:r>
                        <a:rPr sz="1050" b="0">
                          <a:solidFill>
                            <a:srgbClr val="14212B"/>
                          </a:solidFill>
                          <a:latin typeface="Calibri"/>
                        </a:rPr>
                        <a:t>0.86</a:t>
                      </a:r>
                    </a:p>
                  </a:txBody>
                  <a:tcPr marL="73152" marR="73152" marT="27432" marB="27432" anchor="ctr">
                    <a:solidFill>
                      <a:srgbClr val="F1F4F6"/>
                    </a:solidFill>
                  </a:tcPr>
                </a:tc>
                <a:tc>
                  <a:txBody>
                    <a:bodyPr wrap="square"/>
                    <a:lstStyle/>
                    <a:p>
                      <a:pPr algn="l"/>
                      <a:r>
                        <a:rPr sz="950" b="0">
                          <a:solidFill>
                            <a:srgbClr val="14212B"/>
                          </a:solidFill>
                          <a:latin typeface="Calibri"/>
                        </a:rPr>
                        <a:t>Beta 0.71 (moves 0.7x the CAC 40); worst drop -17%; 1-year +18%.</a:t>
                      </a:r>
                    </a:p>
                  </a:txBody>
                  <a:tcPr marL="73152" marR="73152" marT="27432" marB="27432" anchor="ctr">
                    <a:solidFill>
                      <a:srgbClr val="F1F4F6"/>
                    </a:solidFill>
                  </a:tcPr>
                </a:tc>
              </a:tr>
            </a:tbl>
          </a:graphicData>
        </a:graphic>
      </p:graphicFrame>
      <p:sp>
        <p:nvSpPr>
          <p:cNvPr id="5" name="TextBox 4"/>
          <p:cNvSpPr txBox="1"/>
          <p:nvPr/>
        </p:nvSpPr>
        <p:spPr>
          <a:xfrm>
            <a:off x="548640" y="6400800"/>
            <a:ext cx="11064240" cy="274320"/>
          </a:xfrm>
          <a:prstGeom prst="rect">
            <a:avLst/>
          </a:prstGeom>
          <a:noFill/>
        </p:spPr>
        <p:txBody>
          <a:bodyPr wrap="square" anchor="t" lIns="0" rIns="0" tIns="0" bIns="0">
            <a:spAutoFit/>
          </a:bodyPr>
          <a:lstStyle/>
          <a:p>
            <a:pPr algn="l"/>
            <a:r>
              <a:rPr sz="900" b="0" i="0">
                <a:solidFill>
                  <a:srgbClr val="5B6770"/>
                </a:solidFill>
                <a:latin typeface="Calibri"/>
              </a:rPr>
              <a:t>Stocks in the calmest third (lowest volatility) that move less than the market (beta &lt; 1), ranked by 1-year return ÷ volatility. Volatility = yearly swing of the price.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anchor="t" lIns="0" rIns="0" tIns="0" bIns="0">
            <a:spAutoFit/>
          </a:bodyPr>
          <a:lstStyle/>
          <a:p>
            <a:pPr algn="l"/>
            <a:r>
              <a:rPr sz="1100" b="1" i="0">
                <a:solidFill>
                  <a:srgbClr val="D99A1E"/>
                </a:solidFill>
                <a:latin typeface="Calibri"/>
              </a:rPr>
              <a:t>RISK RATIO · HIGHER RISK</a:t>
            </a:r>
          </a:p>
        </p:txBody>
      </p:sp>
      <p:sp>
        <p:nvSpPr>
          <p:cNvPr id="3" name="TextBox 2"/>
          <p:cNvSpPr txBox="1"/>
          <p:nvPr/>
        </p:nvSpPr>
        <p:spPr>
          <a:xfrm>
            <a:off x="548640" y="566928"/>
            <a:ext cx="11064240" cy="640080"/>
          </a:xfrm>
          <a:prstGeom prst="rect">
            <a:avLst/>
          </a:prstGeom>
          <a:noFill/>
        </p:spPr>
        <p:txBody>
          <a:bodyPr wrap="square" anchor="t" lIns="0" rIns="0" tIns="0" bIns="0">
            <a:spAutoFit/>
          </a:bodyPr>
          <a:lstStyle/>
          <a:p>
            <a:pPr algn="l"/>
            <a:r>
              <a:rPr sz="3000" b="1" i="0">
                <a:solidFill>
                  <a:srgbClr val="14212B"/>
                </a:solidFill>
                <a:latin typeface="Cambria"/>
              </a:rPr>
              <a:t>Higher-risk profile: bigger swings, bigger potential</a:t>
            </a:r>
          </a:p>
        </p:txBody>
      </p:sp>
      <p:graphicFrame>
        <p:nvGraphicFramePr>
          <p:cNvPr id="4" name="Table 3"/>
          <p:cNvGraphicFramePr>
            <a:graphicFrameLocks noGrp="1"/>
          </p:cNvGraphicFramePr>
          <p:nvPr/>
        </p:nvGraphicFramePr>
        <p:xfrm>
          <a:off x="548640" y="1325880"/>
          <a:ext cx="11274552" cy="5029200"/>
        </p:xfrm>
        <a:graphic>
          <a:graphicData uri="http://schemas.openxmlformats.org/drawingml/2006/table">
            <a:tbl>
              <a:tblPr firstRow="1">
                <a:tableStyleId>{5C22544A-7EE6-4342-B048-85BDC9FD1C3A}</a:tableStyleId>
              </a:tblPr>
              <a:tblGrid>
                <a:gridCol w="365760"/>
                <a:gridCol w="2148840"/>
                <a:gridCol w="1600200"/>
                <a:gridCol w="914400"/>
                <a:gridCol w="1005840"/>
                <a:gridCol w="5239512"/>
              </a:tblGrid>
              <a:tr h="457200">
                <a:tc>
                  <a:txBody>
                    <a:bodyPr wrap="square"/>
                    <a:lstStyle/>
                    <a:p>
                      <a:pPr algn="l"/>
                      <a:r>
                        <a:rPr sz="1050" b="1">
                          <a:solidFill>
                            <a:srgbClr val="FFFFFF"/>
                          </a:solidFill>
                          <a:latin typeface="Calibri"/>
                        </a:rPr>
                        <a:t>#</a:t>
                      </a:r>
                    </a:p>
                  </a:txBody>
                  <a:tcPr marL="73152" marR="73152" marT="27432" marB="27432" anchor="ctr">
                    <a:solidFill>
                      <a:srgbClr val="D99A1E"/>
                    </a:solidFill>
                  </a:tcPr>
                </a:tc>
                <a:tc>
                  <a:txBody>
                    <a:bodyPr wrap="square"/>
                    <a:lstStyle/>
                    <a:p>
                      <a:pPr algn="l"/>
                      <a:r>
                        <a:rPr sz="1050" b="1">
                          <a:solidFill>
                            <a:srgbClr val="FFFFFF"/>
                          </a:solidFill>
                          <a:latin typeface="Calibri"/>
                        </a:rPr>
                        <a:t>Company</a:t>
                      </a:r>
                    </a:p>
                  </a:txBody>
                  <a:tcPr marL="73152" marR="73152" marT="27432" marB="27432" anchor="ctr">
                    <a:solidFill>
                      <a:srgbClr val="D99A1E"/>
                    </a:solidFill>
                  </a:tcPr>
                </a:tc>
                <a:tc>
                  <a:txBody>
                    <a:bodyPr wrap="square"/>
                    <a:lstStyle/>
                    <a:p>
                      <a:pPr algn="l"/>
                      <a:r>
                        <a:rPr sz="1050" b="1">
                          <a:solidFill>
                            <a:srgbClr val="FFFFFF"/>
                          </a:solidFill>
                          <a:latin typeface="Calibri"/>
                        </a:rPr>
                        <a:t>Sector</a:t>
                      </a:r>
                    </a:p>
                  </a:txBody>
                  <a:tcPr marL="73152" marR="73152" marT="27432" marB="27432" anchor="ctr">
                    <a:solidFill>
                      <a:srgbClr val="D99A1E"/>
                    </a:solidFill>
                  </a:tcPr>
                </a:tc>
                <a:tc>
                  <a:txBody>
                    <a:bodyPr wrap="square"/>
                    <a:lstStyle/>
                    <a:p>
                      <a:pPr algn="l"/>
                      <a:r>
                        <a:rPr sz="1050" b="1">
                          <a:solidFill>
                            <a:srgbClr val="FFFFFF"/>
                          </a:solidFill>
                          <a:latin typeface="Calibri"/>
                        </a:rPr>
                        <a:t>Volatility</a:t>
                      </a:r>
                    </a:p>
                  </a:txBody>
                  <a:tcPr marL="73152" marR="73152" marT="27432" marB="27432" anchor="ctr">
                    <a:solidFill>
                      <a:srgbClr val="D99A1E"/>
                    </a:solidFill>
                  </a:tcPr>
                </a:tc>
                <a:tc>
                  <a:txBody>
                    <a:bodyPr wrap="square"/>
                    <a:lstStyle/>
                    <a:p>
                      <a:pPr algn="l"/>
                      <a:r>
                        <a:rPr sz="1050" b="1">
                          <a:solidFill>
                            <a:srgbClr val="FFFFFF"/>
                          </a:solidFill>
                          <a:latin typeface="Calibri"/>
                        </a:rPr>
                        <a:t>Return / risk</a:t>
                      </a:r>
                    </a:p>
                  </a:txBody>
                  <a:tcPr marL="73152" marR="73152" marT="27432" marB="27432" anchor="ctr">
                    <a:solidFill>
                      <a:srgbClr val="D99A1E"/>
                    </a:solidFill>
                  </a:tcPr>
                </a:tc>
                <a:tc>
                  <a:txBody>
                    <a:bodyPr wrap="square"/>
                    <a:lstStyle/>
                    <a:p>
                      <a:pPr algn="l"/>
                      <a:r>
                        <a:rPr sz="1050" b="1">
                          <a:solidFill>
                            <a:srgbClr val="FFFFFF"/>
                          </a:solidFill>
                          <a:latin typeface="Calibri"/>
                        </a:rPr>
                        <a:t>Profile</a:t>
                      </a:r>
                    </a:p>
                  </a:txBody>
                  <a:tcPr marL="73152" marR="73152" marT="27432" marB="27432" anchor="ctr">
                    <a:solidFill>
                      <a:srgbClr val="D99A1E"/>
                    </a:solidFill>
                  </a:tcPr>
                </a:tc>
              </a:tr>
              <a:tr h="457200">
                <a:tc>
                  <a:txBody>
                    <a:bodyPr wrap="square"/>
                    <a:lstStyle/>
                    <a:p>
                      <a:pPr algn="l"/>
                      <a:r>
                        <a:rPr sz="1050" b="0">
                          <a:solidFill>
                            <a:srgbClr val="14212B"/>
                          </a:solidFill>
                          <a:latin typeface="Calibri"/>
                        </a:rPr>
                        <a:t>1</a:t>
                      </a:r>
                    </a:p>
                  </a:txBody>
                  <a:tcPr marL="73152" marR="73152" marT="27432" marB="27432" anchor="ctr">
                    <a:solidFill>
                      <a:srgbClr val="FFFFFF"/>
                    </a:solidFill>
                  </a:tcPr>
                </a:tc>
                <a:tc>
                  <a:txBody>
                    <a:bodyPr wrap="square"/>
                    <a:lstStyle/>
                    <a:p>
                      <a:pPr algn="l"/>
                      <a:r>
                        <a:rPr sz="1050" b="1">
                          <a:solidFill>
                            <a:srgbClr val="14212B"/>
                          </a:solidFill>
                          <a:latin typeface="Calibri"/>
                        </a:rPr>
                        <a:t>Genfit</a:t>
                      </a:r>
                    </a:p>
                  </a:txBody>
                  <a:tcPr marL="73152" marR="73152" marT="27432" marB="27432" anchor="ctr">
                    <a:solidFill>
                      <a:srgbClr val="FFFFFF"/>
                    </a:solidFill>
                  </a:tcPr>
                </a:tc>
                <a:tc>
                  <a:txBody>
                    <a:bodyPr wrap="square"/>
                    <a:lstStyle/>
                    <a:p>
                      <a:pPr algn="l"/>
                      <a:r>
                        <a:rPr sz="1050" b="0">
                          <a:solidFill>
                            <a:srgbClr val="14212B"/>
                          </a:solidFill>
                          <a:latin typeface="Calibri"/>
                        </a:rPr>
                        <a:t>Healthcare</a:t>
                      </a:r>
                    </a:p>
                  </a:txBody>
                  <a:tcPr marL="73152" marR="73152" marT="27432" marB="27432" anchor="ctr">
                    <a:solidFill>
                      <a:srgbClr val="FFFFFF"/>
                    </a:solidFill>
                  </a:tcPr>
                </a:tc>
                <a:tc>
                  <a:txBody>
                    <a:bodyPr wrap="square"/>
                    <a:lstStyle/>
                    <a:p>
                      <a:pPr algn="l"/>
                      <a:r>
                        <a:rPr sz="1050" b="0">
                          <a:solidFill>
                            <a:srgbClr val="14212B"/>
                          </a:solidFill>
                          <a:latin typeface="Calibri"/>
                        </a:rPr>
                        <a:t>60%</a:t>
                      </a:r>
                    </a:p>
                  </a:txBody>
                  <a:tcPr marL="73152" marR="73152" marT="27432" marB="27432" anchor="ctr">
                    <a:solidFill>
                      <a:srgbClr val="FFFFFF"/>
                    </a:solidFill>
                  </a:tcPr>
                </a:tc>
                <a:tc>
                  <a:txBody>
                    <a:bodyPr wrap="square"/>
                    <a:lstStyle/>
                    <a:p>
                      <a:pPr algn="l"/>
                      <a:r>
                        <a:rPr sz="1050" b="0">
                          <a:solidFill>
                            <a:srgbClr val="14212B"/>
                          </a:solidFill>
                          <a:latin typeface="Calibri"/>
                        </a:rPr>
                        <a:t>2.85</a:t>
                      </a:r>
                    </a:p>
                  </a:txBody>
                  <a:tcPr marL="73152" marR="73152" marT="27432" marB="27432" anchor="ctr">
                    <a:solidFill>
                      <a:srgbClr val="FFFFFF"/>
                    </a:solidFill>
                  </a:tcPr>
                </a:tc>
                <a:tc>
                  <a:txBody>
                    <a:bodyPr wrap="square"/>
                    <a:lstStyle/>
                    <a:p>
                      <a:pPr algn="l"/>
                      <a:r>
                        <a:rPr sz="950" b="0">
                          <a:solidFill>
                            <a:srgbClr val="14212B"/>
                          </a:solidFill>
                          <a:latin typeface="Calibri"/>
                        </a:rPr>
                        <a:t>Beta 0.71 (moves 0.7x the CAC 40); worst drop -39%; 1-year +171%.</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2</a:t>
                      </a:r>
                    </a:p>
                  </a:txBody>
                  <a:tcPr marL="73152" marR="73152" marT="27432" marB="27432" anchor="ctr">
                    <a:solidFill>
                      <a:srgbClr val="F1F4F6"/>
                    </a:solidFill>
                  </a:tcPr>
                </a:tc>
                <a:tc>
                  <a:txBody>
                    <a:bodyPr wrap="square"/>
                    <a:lstStyle/>
                    <a:p>
                      <a:pPr algn="l"/>
                      <a:r>
                        <a:rPr sz="1050" b="1">
                          <a:solidFill>
                            <a:srgbClr val="14212B"/>
                          </a:solidFill>
                          <a:latin typeface="Calibri"/>
                        </a:rPr>
                        <a:t>Soitec</a:t>
                      </a:r>
                    </a:p>
                  </a:txBody>
                  <a:tcPr marL="73152" marR="73152" marT="27432" marB="27432" anchor="ctr">
                    <a:solidFill>
                      <a:srgbClr val="F1F4F6"/>
                    </a:solidFill>
                  </a:tcPr>
                </a:tc>
                <a:tc>
                  <a:txBody>
                    <a:bodyPr wrap="square"/>
                    <a:lstStyle/>
                    <a:p>
                      <a:pPr algn="l"/>
                      <a:r>
                        <a:rPr sz="1050" b="0">
                          <a:solidFill>
                            <a:srgbClr val="14212B"/>
                          </a:solidFill>
                          <a:latin typeface="Calibri"/>
                        </a:rPr>
                        <a:t>Technology</a:t>
                      </a:r>
                    </a:p>
                  </a:txBody>
                  <a:tcPr marL="73152" marR="73152" marT="27432" marB="27432" anchor="ctr">
                    <a:solidFill>
                      <a:srgbClr val="F1F4F6"/>
                    </a:solidFill>
                  </a:tcPr>
                </a:tc>
                <a:tc>
                  <a:txBody>
                    <a:bodyPr wrap="square"/>
                    <a:lstStyle/>
                    <a:p>
                      <a:pPr algn="l"/>
                      <a:r>
                        <a:rPr sz="1050" b="0">
                          <a:solidFill>
                            <a:srgbClr val="14212B"/>
                          </a:solidFill>
                          <a:latin typeface="Calibri"/>
                        </a:rPr>
                        <a:t>105%</a:t>
                      </a:r>
                    </a:p>
                  </a:txBody>
                  <a:tcPr marL="73152" marR="73152" marT="27432" marB="27432" anchor="ctr">
                    <a:solidFill>
                      <a:srgbClr val="F1F4F6"/>
                    </a:solidFill>
                  </a:tcPr>
                </a:tc>
                <a:tc>
                  <a:txBody>
                    <a:bodyPr wrap="square"/>
                    <a:lstStyle/>
                    <a:p>
                      <a:pPr algn="l"/>
                      <a:r>
                        <a:rPr sz="1050" b="0">
                          <a:solidFill>
                            <a:srgbClr val="14212B"/>
                          </a:solidFill>
                          <a:latin typeface="Calibri"/>
                        </a:rPr>
                        <a:t>2.70</a:t>
                      </a:r>
                    </a:p>
                  </a:txBody>
                  <a:tcPr marL="73152" marR="73152" marT="27432" marB="27432" anchor="ctr">
                    <a:solidFill>
                      <a:srgbClr val="F1F4F6"/>
                    </a:solidFill>
                  </a:tcPr>
                </a:tc>
                <a:tc>
                  <a:txBody>
                    <a:bodyPr wrap="square"/>
                    <a:lstStyle/>
                    <a:p>
                      <a:pPr algn="l"/>
                      <a:r>
                        <a:rPr sz="950" b="0">
                          <a:solidFill>
                            <a:srgbClr val="14212B"/>
                          </a:solidFill>
                          <a:latin typeface="Calibri"/>
                        </a:rPr>
                        <a:t>Beta 1.21 (moves 1.2x the CAC 40); worst drop -55%; 1-year +284%.</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3</a:t>
                      </a:r>
                    </a:p>
                  </a:txBody>
                  <a:tcPr marL="73152" marR="73152" marT="27432" marB="27432" anchor="ctr">
                    <a:solidFill>
                      <a:srgbClr val="FFFFFF"/>
                    </a:solidFill>
                  </a:tcPr>
                </a:tc>
                <a:tc>
                  <a:txBody>
                    <a:bodyPr wrap="square"/>
                    <a:lstStyle/>
                    <a:p>
                      <a:pPr algn="l"/>
                      <a:r>
                        <a:rPr sz="1050" b="1">
                          <a:solidFill>
                            <a:srgbClr val="14212B"/>
                          </a:solidFill>
                          <a:latin typeface="Calibri"/>
                        </a:rPr>
                        <a:t>North Atlantic Energies</a:t>
                      </a:r>
                    </a:p>
                  </a:txBody>
                  <a:tcPr marL="73152" marR="73152" marT="27432" marB="27432" anchor="ctr">
                    <a:solidFill>
                      <a:srgbClr val="FFFFFF"/>
                    </a:solidFill>
                  </a:tcPr>
                </a:tc>
                <a:tc>
                  <a:txBody>
                    <a:bodyPr wrap="square"/>
                    <a:lstStyle/>
                    <a:p>
                      <a:pPr algn="l"/>
                      <a:r>
                        <a:rPr sz="1050" b="0">
                          <a:solidFill>
                            <a:srgbClr val="14212B"/>
                          </a:solidFill>
                          <a:latin typeface="Calibri"/>
                        </a:rPr>
                        <a:t>Energy</a:t>
                      </a:r>
                    </a:p>
                  </a:txBody>
                  <a:tcPr marL="73152" marR="73152" marT="27432" marB="27432" anchor="ctr">
                    <a:solidFill>
                      <a:srgbClr val="FFFFFF"/>
                    </a:solidFill>
                  </a:tcPr>
                </a:tc>
                <a:tc>
                  <a:txBody>
                    <a:bodyPr wrap="square"/>
                    <a:lstStyle/>
                    <a:p>
                      <a:pPr algn="l"/>
                      <a:r>
                        <a:rPr sz="1050" b="0">
                          <a:solidFill>
                            <a:srgbClr val="14212B"/>
                          </a:solidFill>
                          <a:latin typeface="Calibri"/>
                        </a:rPr>
                        <a:t>58%</a:t>
                      </a:r>
                    </a:p>
                  </a:txBody>
                  <a:tcPr marL="73152" marR="73152" marT="27432" marB="27432" anchor="ctr">
                    <a:solidFill>
                      <a:srgbClr val="FFFFFF"/>
                    </a:solidFill>
                  </a:tcPr>
                </a:tc>
                <a:tc>
                  <a:txBody>
                    <a:bodyPr wrap="square"/>
                    <a:lstStyle/>
                    <a:p>
                      <a:pPr algn="l"/>
                      <a:r>
                        <a:rPr sz="1050" b="0">
                          <a:solidFill>
                            <a:srgbClr val="14212B"/>
                          </a:solidFill>
                          <a:latin typeface="Calibri"/>
                        </a:rPr>
                        <a:t>2.25</a:t>
                      </a:r>
                    </a:p>
                  </a:txBody>
                  <a:tcPr marL="73152" marR="73152" marT="27432" marB="27432" anchor="ctr">
                    <a:solidFill>
                      <a:srgbClr val="FFFFFF"/>
                    </a:solidFill>
                  </a:tcPr>
                </a:tc>
                <a:tc>
                  <a:txBody>
                    <a:bodyPr wrap="square"/>
                    <a:lstStyle/>
                    <a:p>
                      <a:pPr algn="l"/>
                      <a:r>
                        <a:rPr sz="950" b="0">
                          <a:solidFill>
                            <a:srgbClr val="14212B"/>
                          </a:solidFill>
                          <a:latin typeface="Calibri"/>
                        </a:rPr>
                        <a:t>Beta -0.82 (moves -0.8x the CAC 40); worst drop -44%; 1-year +132%. World-news headwind (Energy).</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4</a:t>
                      </a:r>
                    </a:p>
                  </a:txBody>
                  <a:tcPr marL="73152" marR="73152" marT="27432" marB="27432" anchor="ctr">
                    <a:solidFill>
                      <a:srgbClr val="F1F4F6"/>
                    </a:solidFill>
                  </a:tcPr>
                </a:tc>
                <a:tc>
                  <a:txBody>
                    <a:bodyPr wrap="square"/>
                    <a:lstStyle/>
                    <a:p>
                      <a:pPr algn="l"/>
                      <a:r>
                        <a:rPr sz="1050" b="1">
                          <a:solidFill>
                            <a:srgbClr val="14212B"/>
                          </a:solidFill>
                          <a:latin typeface="Calibri"/>
                        </a:rPr>
                        <a:t>STMicroelectronics</a:t>
                      </a:r>
                    </a:p>
                  </a:txBody>
                  <a:tcPr marL="73152" marR="73152" marT="27432" marB="27432" anchor="ctr">
                    <a:solidFill>
                      <a:srgbClr val="F1F4F6"/>
                    </a:solidFill>
                  </a:tcPr>
                </a:tc>
                <a:tc>
                  <a:txBody>
                    <a:bodyPr wrap="square"/>
                    <a:lstStyle/>
                    <a:p>
                      <a:pPr algn="l"/>
                      <a:r>
                        <a:rPr sz="1050" b="0">
                          <a:solidFill>
                            <a:srgbClr val="14212B"/>
                          </a:solidFill>
                          <a:latin typeface="Calibri"/>
                        </a:rPr>
                        <a:t>Technology</a:t>
                      </a:r>
                    </a:p>
                  </a:txBody>
                  <a:tcPr marL="73152" marR="73152" marT="27432" marB="27432" anchor="ctr">
                    <a:solidFill>
                      <a:srgbClr val="F1F4F6"/>
                    </a:solidFill>
                  </a:tcPr>
                </a:tc>
                <a:tc>
                  <a:txBody>
                    <a:bodyPr wrap="square"/>
                    <a:lstStyle/>
                    <a:p>
                      <a:pPr algn="l"/>
                      <a:r>
                        <a:rPr sz="1050" b="0">
                          <a:solidFill>
                            <a:srgbClr val="14212B"/>
                          </a:solidFill>
                          <a:latin typeface="Calibri"/>
                        </a:rPr>
                        <a:t>55%</a:t>
                      </a:r>
                    </a:p>
                  </a:txBody>
                  <a:tcPr marL="73152" marR="73152" marT="27432" marB="27432" anchor="ctr">
                    <a:solidFill>
                      <a:srgbClr val="F1F4F6"/>
                    </a:solidFill>
                  </a:tcPr>
                </a:tc>
                <a:tc>
                  <a:txBody>
                    <a:bodyPr wrap="square"/>
                    <a:lstStyle/>
                    <a:p>
                      <a:pPr algn="l"/>
                      <a:r>
                        <a:rPr sz="1050" b="0">
                          <a:solidFill>
                            <a:srgbClr val="14212B"/>
                          </a:solidFill>
                          <a:latin typeface="Calibri"/>
                        </a:rPr>
                        <a:t>1.84</a:t>
                      </a:r>
                    </a:p>
                  </a:txBody>
                  <a:tcPr marL="73152" marR="73152" marT="27432" marB="27432" anchor="ctr">
                    <a:solidFill>
                      <a:srgbClr val="F1F4F6"/>
                    </a:solidFill>
                  </a:tcPr>
                </a:tc>
                <a:tc>
                  <a:txBody>
                    <a:bodyPr wrap="square"/>
                    <a:lstStyle/>
                    <a:p>
                      <a:pPr algn="l"/>
                      <a:r>
                        <a:rPr sz="950" b="0">
                          <a:solidFill>
                            <a:srgbClr val="14212B"/>
                          </a:solidFill>
                          <a:latin typeface="Calibri"/>
                        </a:rPr>
                        <a:t>Beta 1.48 (moves 1.5x the CAC 40); worst drop -40%; 1-year +101%.</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5</a:t>
                      </a:r>
                    </a:p>
                  </a:txBody>
                  <a:tcPr marL="73152" marR="73152" marT="27432" marB="27432" anchor="ctr">
                    <a:solidFill>
                      <a:srgbClr val="FFFFFF"/>
                    </a:solidFill>
                  </a:tcPr>
                </a:tc>
                <a:tc>
                  <a:txBody>
                    <a:bodyPr wrap="square"/>
                    <a:lstStyle/>
                    <a:p>
                      <a:pPr algn="l"/>
                      <a:r>
                        <a:rPr sz="1050" b="1">
                          <a:solidFill>
                            <a:srgbClr val="14212B"/>
                          </a:solidFill>
                          <a:latin typeface="Calibri"/>
                        </a:rPr>
                        <a:t>Mersen</a:t>
                      </a:r>
                    </a:p>
                  </a:txBody>
                  <a:tcPr marL="73152" marR="73152" marT="27432" marB="27432" anchor="ctr">
                    <a:solidFill>
                      <a:srgbClr val="FFFFFF"/>
                    </a:solidFill>
                  </a:tcPr>
                </a:tc>
                <a:tc>
                  <a:txBody>
                    <a:bodyPr wrap="square"/>
                    <a:lstStyle/>
                    <a:p>
                      <a:pPr algn="l"/>
                      <a:r>
                        <a:rPr sz="1050" b="0">
                          <a:solidFill>
                            <a:srgbClr val="14212B"/>
                          </a:solidFill>
                          <a:latin typeface="Calibri"/>
                        </a:rPr>
                        <a:t>Industrials</a:t>
                      </a:r>
                    </a:p>
                  </a:txBody>
                  <a:tcPr marL="73152" marR="73152" marT="27432" marB="27432" anchor="ctr">
                    <a:solidFill>
                      <a:srgbClr val="FFFFFF"/>
                    </a:solidFill>
                  </a:tcPr>
                </a:tc>
                <a:tc>
                  <a:txBody>
                    <a:bodyPr wrap="square"/>
                    <a:lstStyle/>
                    <a:p>
                      <a:pPr algn="l"/>
                      <a:r>
                        <a:rPr sz="1050" b="0">
                          <a:solidFill>
                            <a:srgbClr val="14212B"/>
                          </a:solidFill>
                          <a:latin typeface="Calibri"/>
                        </a:rPr>
                        <a:t>45%</a:t>
                      </a:r>
                    </a:p>
                  </a:txBody>
                  <a:tcPr marL="73152" marR="73152" marT="27432" marB="27432" anchor="ctr">
                    <a:solidFill>
                      <a:srgbClr val="FFFFFF"/>
                    </a:solidFill>
                  </a:tcPr>
                </a:tc>
                <a:tc>
                  <a:txBody>
                    <a:bodyPr wrap="square"/>
                    <a:lstStyle/>
                    <a:p>
                      <a:pPr algn="l"/>
                      <a:r>
                        <a:rPr sz="1050" b="0">
                          <a:solidFill>
                            <a:srgbClr val="14212B"/>
                          </a:solidFill>
                          <a:latin typeface="Calibri"/>
                        </a:rPr>
                        <a:t>1.54</a:t>
                      </a:r>
                    </a:p>
                  </a:txBody>
                  <a:tcPr marL="73152" marR="73152" marT="27432" marB="27432" anchor="ctr">
                    <a:solidFill>
                      <a:srgbClr val="FFFFFF"/>
                    </a:solidFill>
                  </a:tcPr>
                </a:tc>
                <a:tc>
                  <a:txBody>
                    <a:bodyPr wrap="square"/>
                    <a:lstStyle/>
                    <a:p>
                      <a:pPr algn="l"/>
                      <a:r>
                        <a:rPr sz="950" b="0">
                          <a:solidFill>
                            <a:srgbClr val="14212B"/>
                          </a:solidFill>
                          <a:latin typeface="Calibri"/>
                        </a:rPr>
                        <a:t>Beta 1.32 (moves 1.3x the CAC 40); worst drop -27%; 1-year +69%.</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6</a:t>
                      </a:r>
                    </a:p>
                  </a:txBody>
                  <a:tcPr marL="73152" marR="73152" marT="27432" marB="27432" anchor="ctr">
                    <a:solidFill>
                      <a:srgbClr val="F1F4F6"/>
                    </a:solidFill>
                  </a:tcPr>
                </a:tc>
                <a:tc>
                  <a:txBody>
                    <a:bodyPr wrap="square"/>
                    <a:lstStyle/>
                    <a:p>
                      <a:pPr algn="l"/>
                      <a:r>
                        <a:rPr sz="1050" b="1">
                          <a:solidFill>
                            <a:srgbClr val="14212B"/>
                          </a:solidFill>
                          <a:latin typeface="Calibri"/>
                        </a:rPr>
                        <a:t>Etablissements Maurel &amp; Prom</a:t>
                      </a:r>
                    </a:p>
                  </a:txBody>
                  <a:tcPr marL="73152" marR="73152" marT="27432" marB="27432" anchor="ctr">
                    <a:solidFill>
                      <a:srgbClr val="F1F4F6"/>
                    </a:solidFill>
                  </a:tcPr>
                </a:tc>
                <a:tc>
                  <a:txBody>
                    <a:bodyPr wrap="square"/>
                    <a:lstStyle/>
                    <a:p>
                      <a:pPr algn="l"/>
                      <a:r>
                        <a:rPr sz="1050" b="0">
                          <a:solidFill>
                            <a:srgbClr val="14212B"/>
                          </a:solidFill>
                          <a:latin typeface="Calibri"/>
                        </a:rPr>
                        <a:t>Energy</a:t>
                      </a:r>
                    </a:p>
                  </a:txBody>
                  <a:tcPr marL="73152" marR="73152" marT="27432" marB="27432" anchor="ctr">
                    <a:solidFill>
                      <a:srgbClr val="F1F4F6"/>
                    </a:solidFill>
                  </a:tcPr>
                </a:tc>
                <a:tc>
                  <a:txBody>
                    <a:bodyPr wrap="square"/>
                    <a:lstStyle/>
                    <a:p>
                      <a:pPr algn="l"/>
                      <a:r>
                        <a:rPr sz="1050" b="0">
                          <a:solidFill>
                            <a:srgbClr val="14212B"/>
                          </a:solidFill>
                          <a:latin typeface="Calibri"/>
                        </a:rPr>
                        <a:t>43%</a:t>
                      </a:r>
                    </a:p>
                  </a:txBody>
                  <a:tcPr marL="73152" marR="73152" marT="27432" marB="27432" anchor="ctr">
                    <a:solidFill>
                      <a:srgbClr val="F1F4F6"/>
                    </a:solidFill>
                  </a:tcPr>
                </a:tc>
                <a:tc>
                  <a:txBody>
                    <a:bodyPr wrap="square"/>
                    <a:lstStyle/>
                    <a:p>
                      <a:pPr algn="l"/>
                      <a:r>
                        <a:rPr sz="1050" b="0">
                          <a:solidFill>
                            <a:srgbClr val="14212B"/>
                          </a:solidFill>
                          <a:latin typeface="Calibri"/>
                        </a:rPr>
                        <a:t>1.48</a:t>
                      </a:r>
                    </a:p>
                  </a:txBody>
                  <a:tcPr marL="73152" marR="73152" marT="27432" marB="27432" anchor="ctr">
                    <a:solidFill>
                      <a:srgbClr val="F1F4F6"/>
                    </a:solidFill>
                  </a:tcPr>
                </a:tc>
                <a:tc>
                  <a:txBody>
                    <a:bodyPr wrap="square"/>
                    <a:lstStyle/>
                    <a:p>
                      <a:pPr algn="l"/>
                      <a:r>
                        <a:rPr sz="950" b="0">
                          <a:solidFill>
                            <a:srgbClr val="14212B"/>
                          </a:solidFill>
                          <a:latin typeface="Calibri"/>
                        </a:rPr>
                        <a:t>Beta -0.91 (moves -0.9x the CAC 40); worst drop -33%; 1-year +63%. World-news headwind (Energy).</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7</a:t>
                      </a:r>
                    </a:p>
                  </a:txBody>
                  <a:tcPr marL="73152" marR="73152" marT="27432" marB="27432" anchor="ctr">
                    <a:solidFill>
                      <a:srgbClr val="FFFFFF"/>
                    </a:solidFill>
                  </a:tcPr>
                </a:tc>
                <a:tc>
                  <a:txBody>
                    <a:bodyPr wrap="square"/>
                    <a:lstStyle/>
                    <a:p>
                      <a:pPr algn="l"/>
                      <a:r>
                        <a:rPr sz="1050" b="1">
                          <a:solidFill>
                            <a:srgbClr val="14212B"/>
                          </a:solidFill>
                          <a:latin typeface="Calibri"/>
                        </a:rPr>
                        <a:t>2CRSI</a:t>
                      </a:r>
                    </a:p>
                  </a:txBody>
                  <a:tcPr marL="73152" marR="73152" marT="27432" marB="27432" anchor="ctr">
                    <a:solidFill>
                      <a:srgbClr val="FFFFFF"/>
                    </a:solidFill>
                  </a:tcPr>
                </a:tc>
                <a:tc>
                  <a:txBody>
                    <a:bodyPr wrap="square"/>
                    <a:lstStyle/>
                    <a:p>
                      <a:pPr algn="l"/>
                      <a:r>
                        <a:rPr sz="1050" b="0">
                          <a:solidFill>
                            <a:srgbClr val="14212B"/>
                          </a:solidFill>
                          <a:latin typeface="Calibri"/>
                        </a:rPr>
                        <a:t>Technology</a:t>
                      </a:r>
                    </a:p>
                  </a:txBody>
                  <a:tcPr marL="73152" marR="73152" marT="27432" marB="27432" anchor="ctr">
                    <a:solidFill>
                      <a:srgbClr val="FFFFFF"/>
                    </a:solidFill>
                  </a:tcPr>
                </a:tc>
                <a:tc>
                  <a:txBody>
                    <a:bodyPr wrap="square"/>
                    <a:lstStyle/>
                    <a:p>
                      <a:pPr algn="l"/>
                      <a:r>
                        <a:rPr sz="1050" b="0">
                          <a:solidFill>
                            <a:srgbClr val="14212B"/>
                          </a:solidFill>
                          <a:latin typeface="Calibri"/>
                        </a:rPr>
                        <a:t>102%</a:t>
                      </a:r>
                    </a:p>
                  </a:txBody>
                  <a:tcPr marL="73152" marR="73152" marT="27432" marB="27432" anchor="ctr">
                    <a:solidFill>
                      <a:srgbClr val="FFFFFF"/>
                    </a:solidFill>
                  </a:tcPr>
                </a:tc>
                <a:tc>
                  <a:txBody>
                    <a:bodyPr wrap="square"/>
                    <a:lstStyle/>
                    <a:p>
                      <a:pPr algn="l"/>
                      <a:r>
                        <a:rPr sz="1050" b="0">
                          <a:solidFill>
                            <a:srgbClr val="14212B"/>
                          </a:solidFill>
                          <a:latin typeface="Calibri"/>
                        </a:rPr>
                        <a:t>0.92</a:t>
                      </a:r>
                    </a:p>
                  </a:txBody>
                  <a:tcPr marL="73152" marR="73152" marT="27432" marB="27432" anchor="ctr">
                    <a:solidFill>
                      <a:srgbClr val="FFFFFF"/>
                    </a:solidFill>
                  </a:tcPr>
                </a:tc>
                <a:tc>
                  <a:txBody>
                    <a:bodyPr wrap="square"/>
                    <a:lstStyle/>
                    <a:p>
                      <a:pPr algn="l"/>
                      <a:r>
                        <a:rPr sz="950" b="0">
                          <a:solidFill>
                            <a:srgbClr val="14212B"/>
                          </a:solidFill>
                          <a:latin typeface="Calibri"/>
                        </a:rPr>
                        <a:t>Beta 1.60 (moves 1.6x the CAC 40); worst drop -62%; 1-year +94%.</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8</a:t>
                      </a:r>
                    </a:p>
                  </a:txBody>
                  <a:tcPr marL="73152" marR="73152" marT="27432" marB="27432" anchor="ctr">
                    <a:solidFill>
                      <a:srgbClr val="F1F4F6"/>
                    </a:solidFill>
                  </a:tcPr>
                </a:tc>
                <a:tc>
                  <a:txBody>
                    <a:bodyPr wrap="square"/>
                    <a:lstStyle/>
                    <a:p>
                      <a:pPr algn="l"/>
                      <a:r>
                        <a:rPr sz="1050" b="1">
                          <a:solidFill>
                            <a:srgbClr val="14212B"/>
                          </a:solidFill>
                          <a:latin typeface="Calibri"/>
                        </a:rPr>
                        <a:t>Valeo</a:t>
                      </a:r>
                    </a:p>
                  </a:txBody>
                  <a:tcPr marL="73152" marR="73152" marT="27432" marB="27432" anchor="ctr">
                    <a:solidFill>
                      <a:srgbClr val="F1F4F6"/>
                    </a:solidFill>
                  </a:tcPr>
                </a:tc>
                <a:tc>
                  <a:txBody>
                    <a:bodyPr wrap="square"/>
                    <a:lstStyle/>
                    <a:p>
                      <a:pPr algn="l"/>
                      <a:r>
                        <a:rPr sz="1050" b="0">
                          <a:solidFill>
                            <a:srgbClr val="14212B"/>
                          </a:solidFill>
                          <a:latin typeface="Calibri"/>
                        </a:rPr>
                        <a:t>Consumer Cyclical</a:t>
                      </a:r>
                    </a:p>
                  </a:txBody>
                  <a:tcPr marL="73152" marR="73152" marT="27432" marB="27432" anchor="ctr">
                    <a:solidFill>
                      <a:srgbClr val="F1F4F6"/>
                    </a:solidFill>
                  </a:tcPr>
                </a:tc>
                <a:tc>
                  <a:txBody>
                    <a:bodyPr wrap="square"/>
                    <a:lstStyle/>
                    <a:p>
                      <a:pPr algn="l"/>
                      <a:r>
                        <a:rPr sz="1050" b="0">
                          <a:solidFill>
                            <a:srgbClr val="14212B"/>
                          </a:solidFill>
                          <a:latin typeface="Calibri"/>
                        </a:rPr>
                        <a:t>48%</a:t>
                      </a:r>
                    </a:p>
                  </a:txBody>
                  <a:tcPr marL="73152" marR="73152" marT="27432" marB="27432" anchor="ctr">
                    <a:solidFill>
                      <a:srgbClr val="F1F4F6"/>
                    </a:solidFill>
                  </a:tcPr>
                </a:tc>
                <a:tc>
                  <a:txBody>
                    <a:bodyPr wrap="square"/>
                    <a:lstStyle/>
                    <a:p>
                      <a:pPr algn="l"/>
                      <a:r>
                        <a:rPr sz="1050" b="0">
                          <a:solidFill>
                            <a:srgbClr val="14212B"/>
                          </a:solidFill>
                          <a:latin typeface="Calibri"/>
                        </a:rPr>
                        <a:t>0.86</a:t>
                      </a:r>
                    </a:p>
                  </a:txBody>
                  <a:tcPr marL="73152" marR="73152" marT="27432" marB="27432" anchor="ctr">
                    <a:solidFill>
                      <a:srgbClr val="F1F4F6"/>
                    </a:solidFill>
                  </a:tcPr>
                </a:tc>
                <a:tc>
                  <a:txBody>
                    <a:bodyPr wrap="square"/>
                    <a:lstStyle/>
                    <a:p>
                      <a:pPr algn="l"/>
                      <a:r>
                        <a:rPr sz="950" b="0">
                          <a:solidFill>
                            <a:srgbClr val="14212B"/>
                          </a:solidFill>
                          <a:latin typeface="Calibri"/>
                        </a:rPr>
                        <a:t>Beta 1.55 (moves 1.6x the CAC 40); worst drop -27%; 1-year +42%. World-news headwind (Consumer Cyclical).</a:t>
                      </a:r>
                    </a:p>
                  </a:txBody>
                  <a:tcPr marL="73152" marR="73152" marT="27432" marB="27432" anchor="ctr">
                    <a:solidFill>
                      <a:srgbClr val="F1F4F6"/>
                    </a:solidFill>
                  </a:tcPr>
                </a:tc>
              </a:tr>
              <a:tr h="457200">
                <a:tc>
                  <a:txBody>
                    <a:bodyPr wrap="square"/>
                    <a:lstStyle/>
                    <a:p>
                      <a:pPr algn="l"/>
                      <a:r>
                        <a:rPr sz="1050" b="0">
                          <a:solidFill>
                            <a:srgbClr val="14212B"/>
                          </a:solidFill>
                          <a:latin typeface="Calibri"/>
                        </a:rPr>
                        <a:t>9</a:t>
                      </a:r>
                    </a:p>
                  </a:txBody>
                  <a:tcPr marL="73152" marR="73152" marT="27432" marB="27432" anchor="ctr">
                    <a:solidFill>
                      <a:srgbClr val="FFFFFF"/>
                    </a:solidFill>
                  </a:tcPr>
                </a:tc>
                <a:tc>
                  <a:txBody>
                    <a:bodyPr wrap="square"/>
                    <a:lstStyle/>
                    <a:p>
                      <a:pPr algn="l"/>
                      <a:r>
                        <a:rPr sz="1050" b="1">
                          <a:solidFill>
                            <a:srgbClr val="14212B"/>
                          </a:solidFill>
                          <a:latin typeface="Calibri"/>
                        </a:rPr>
                        <a:t>Edenred</a:t>
                      </a:r>
                    </a:p>
                  </a:txBody>
                  <a:tcPr marL="73152" marR="73152" marT="27432" marB="27432" anchor="ctr">
                    <a:solidFill>
                      <a:srgbClr val="FFFFFF"/>
                    </a:solidFill>
                  </a:tcPr>
                </a:tc>
                <a:tc>
                  <a:txBody>
                    <a:bodyPr wrap="square"/>
                    <a:lstStyle/>
                    <a:p>
                      <a:pPr algn="l"/>
                      <a:r>
                        <a:rPr sz="1050" b="0">
                          <a:solidFill>
                            <a:srgbClr val="14212B"/>
                          </a:solidFill>
                          <a:latin typeface="Calibri"/>
                        </a:rPr>
                        <a:t>Financial Services</a:t>
                      </a:r>
                    </a:p>
                  </a:txBody>
                  <a:tcPr marL="73152" marR="73152" marT="27432" marB="27432" anchor="ctr">
                    <a:solidFill>
                      <a:srgbClr val="FFFFFF"/>
                    </a:solidFill>
                  </a:tcPr>
                </a:tc>
                <a:tc>
                  <a:txBody>
                    <a:bodyPr wrap="square"/>
                    <a:lstStyle/>
                    <a:p>
                      <a:pPr algn="l"/>
                      <a:r>
                        <a:rPr sz="1050" b="0">
                          <a:solidFill>
                            <a:srgbClr val="14212B"/>
                          </a:solidFill>
                          <a:latin typeface="Calibri"/>
                        </a:rPr>
                        <a:t>47%</a:t>
                      </a:r>
                    </a:p>
                  </a:txBody>
                  <a:tcPr marL="73152" marR="73152" marT="27432" marB="27432" anchor="ctr">
                    <a:solidFill>
                      <a:srgbClr val="FFFFFF"/>
                    </a:solidFill>
                  </a:tcPr>
                </a:tc>
                <a:tc>
                  <a:txBody>
                    <a:bodyPr wrap="square"/>
                    <a:lstStyle/>
                    <a:p>
                      <a:pPr algn="l"/>
                      <a:r>
                        <a:rPr sz="1050" b="0">
                          <a:solidFill>
                            <a:srgbClr val="14212B"/>
                          </a:solidFill>
                          <a:latin typeface="Calibri"/>
                        </a:rPr>
                        <a:t>0.83</a:t>
                      </a:r>
                    </a:p>
                  </a:txBody>
                  <a:tcPr marL="73152" marR="73152" marT="27432" marB="27432" anchor="ctr">
                    <a:solidFill>
                      <a:srgbClr val="FFFFFF"/>
                    </a:solidFill>
                  </a:tcPr>
                </a:tc>
                <a:tc>
                  <a:txBody>
                    <a:bodyPr wrap="square"/>
                    <a:lstStyle/>
                    <a:p>
                      <a:pPr algn="l"/>
                      <a:r>
                        <a:rPr sz="950" b="0">
                          <a:solidFill>
                            <a:srgbClr val="14212B"/>
                          </a:solidFill>
                          <a:latin typeface="Calibri"/>
                        </a:rPr>
                        <a:t>Beta 0.64 (moves 0.6x the CAC 40); worst drop -41%; 1-year +39%.</a:t>
                      </a:r>
                    </a:p>
                  </a:txBody>
                  <a:tcPr marL="73152" marR="73152" marT="27432" marB="27432" anchor="ctr">
                    <a:solidFill>
                      <a:srgbClr val="FFFFFF"/>
                    </a:solidFill>
                  </a:tcPr>
                </a:tc>
              </a:tr>
              <a:tr h="457200">
                <a:tc>
                  <a:txBody>
                    <a:bodyPr wrap="square"/>
                    <a:lstStyle/>
                    <a:p>
                      <a:pPr algn="l"/>
                      <a:r>
                        <a:rPr sz="1050" b="0">
                          <a:solidFill>
                            <a:srgbClr val="14212B"/>
                          </a:solidFill>
                          <a:latin typeface="Calibri"/>
                        </a:rPr>
                        <a:t>10</a:t>
                      </a:r>
                    </a:p>
                  </a:txBody>
                  <a:tcPr marL="73152" marR="73152" marT="27432" marB="27432" anchor="ctr">
                    <a:solidFill>
                      <a:srgbClr val="F1F4F6"/>
                    </a:solidFill>
                  </a:tcPr>
                </a:tc>
                <a:tc>
                  <a:txBody>
                    <a:bodyPr wrap="square"/>
                    <a:lstStyle/>
                    <a:p>
                      <a:pPr algn="l"/>
                      <a:r>
                        <a:rPr sz="1050" b="1">
                          <a:solidFill>
                            <a:srgbClr val="14212B"/>
                          </a:solidFill>
                          <a:latin typeface="Calibri"/>
                        </a:rPr>
                        <a:t>Exosens</a:t>
                      </a:r>
                    </a:p>
                  </a:txBody>
                  <a:tcPr marL="73152" marR="73152" marT="27432" marB="27432" anchor="ctr">
                    <a:solidFill>
                      <a:srgbClr val="F1F4F6"/>
                    </a:solidFill>
                  </a:tcPr>
                </a:tc>
                <a:tc>
                  <a:txBody>
                    <a:bodyPr wrap="square"/>
                    <a:lstStyle/>
                    <a:p>
                      <a:pPr algn="l"/>
                      <a:r>
                        <a:rPr sz="1050" b="0">
                          <a:solidFill>
                            <a:srgbClr val="14212B"/>
                          </a:solidFill>
                          <a:latin typeface="Calibri"/>
                        </a:rPr>
                        <a:t>Aerospace &amp; Defense</a:t>
                      </a:r>
                    </a:p>
                  </a:txBody>
                  <a:tcPr marL="73152" marR="73152" marT="27432" marB="27432" anchor="ctr">
                    <a:solidFill>
                      <a:srgbClr val="F1F4F6"/>
                    </a:solidFill>
                  </a:tcPr>
                </a:tc>
                <a:tc>
                  <a:txBody>
                    <a:bodyPr wrap="square"/>
                    <a:lstStyle/>
                    <a:p>
                      <a:pPr algn="l"/>
                      <a:r>
                        <a:rPr sz="1050" b="0">
                          <a:solidFill>
                            <a:srgbClr val="14212B"/>
                          </a:solidFill>
                          <a:latin typeface="Calibri"/>
                        </a:rPr>
                        <a:t>47%</a:t>
                      </a:r>
                    </a:p>
                  </a:txBody>
                  <a:tcPr marL="73152" marR="73152" marT="27432" marB="27432" anchor="ctr">
                    <a:solidFill>
                      <a:srgbClr val="F1F4F6"/>
                    </a:solidFill>
                  </a:tcPr>
                </a:tc>
                <a:tc>
                  <a:txBody>
                    <a:bodyPr wrap="square"/>
                    <a:lstStyle/>
                    <a:p>
                      <a:pPr algn="l"/>
                      <a:r>
                        <a:rPr sz="1050" b="0">
                          <a:solidFill>
                            <a:srgbClr val="14212B"/>
                          </a:solidFill>
                          <a:latin typeface="Calibri"/>
                        </a:rPr>
                        <a:t>0.72</a:t>
                      </a:r>
                    </a:p>
                  </a:txBody>
                  <a:tcPr marL="73152" marR="73152" marT="27432" marB="27432" anchor="ctr">
                    <a:solidFill>
                      <a:srgbClr val="F1F4F6"/>
                    </a:solidFill>
                  </a:tcPr>
                </a:tc>
                <a:tc>
                  <a:txBody>
                    <a:bodyPr wrap="square"/>
                    <a:lstStyle/>
                    <a:p>
                      <a:pPr algn="l"/>
                      <a:r>
                        <a:rPr sz="950" b="0">
                          <a:solidFill>
                            <a:srgbClr val="14212B"/>
                          </a:solidFill>
                          <a:latin typeface="Calibri"/>
                        </a:rPr>
                        <a:t>Beta 0.42 (moves 0.4x the CAC 40); worst drop -27%; 1-year +34%.</a:t>
                      </a:r>
                    </a:p>
                  </a:txBody>
                  <a:tcPr marL="73152" marR="73152" marT="27432" marB="27432" anchor="ctr">
                    <a:solidFill>
                      <a:srgbClr val="F1F4F6"/>
                    </a:solidFill>
                  </a:tcPr>
                </a:tc>
              </a:tr>
            </a:tbl>
          </a:graphicData>
        </a:graphic>
      </p:graphicFrame>
      <p:sp>
        <p:nvSpPr>
          <p:cNvPr id="5" name="TextBox 4"/>
          <p:cNvSpPr txBox="1"/>
          <p:nvPr/>
        </p:nvSpPr>
        <p:spPr>
          <a:xfrm>
            <a:off x="548640" y="6400800"/>
            <a:ext cx="11064240" cy="274320"/>
          </a:xfrm>
          <a:prstGeom prst="rect">
            <a:avLst/>
          </a:prstGeom>
          <a:noFill/>
        </p:spPr>
        <p:txBody>
          <a:bodyPr wrap="square" anchor="t" lIns="0" rIns="0" tIns="0" bIns="0">
            <a:spAutoFit/>
          </a:bodyPr>
          <a:lstStyle/>
          <a:p>
            <a:pPr algn="l"/>
            <a:r>
              <a:rPr sz="900" b="0" i="0">
                <a:solidFill>
                  <a:srgbClr val="5B6770"/>
                </a:solidFill>
                <a:latin typeface="Calibri"/>
              </a:rPr>
              <a:t>Stocks in the most volatile third, ranked by 1-year return ÷ volatility. Expect large moves both ways. Volatility = yearly swing of the price.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anchor="t" lIns="0" rIns="0" tIns="0" bIns="0">
            <a:spAutoFit/>
          </a:bodyPr>
          <a:lstStyle/>
          <a:p>
            <a:pPr algn="l"/>
            <a:r>
              <a:rPr sz="1100" b="1" i="0">
                <a:solidFill>
                  <a:srgbClr val="D99A1E"/>
                </a:solidFill>
                <a:latin typeface="Calibri"/>
              </a:rPr>
              <a:t>ALL LIQUID STOCKS, LAST 12 MONTHS</a:t>
            </a:r>
          </a:p>
        </p:txBody>
      </p:sp>
      <p:sp>
        <p:nvSpPr>
          <p:cNvPr id="3" name="TextBox 2"/>
          <p:cNvSpPr txBox="1"/>
          <p:nvPr/>
        </p:nvSpPr>
        <p:spPr>
          <a:xfrm>
            <a:off x="548640" y="566928"/>
            <a:ext cx="11064240" cy="640080"/>
          </a:xfrm>
          <a:prstGeom prst="rect">
            <a:avLst/>
          </a:prstGeom>
          <a:noFill/>
        </p:spPr>
        <p:txBody>
          <a:bodyPr wrap="square" anchor="t" lIns="0" rIns="0" tIns="0" bIns="0">
            <a:spAutoFit/>
          </a:bodyPr>
          <a:lstStyle/>
          <a:p>
            <a:pPr algn="l"/>
            <a:r>
              <a:rPr sz="3000" b="1" i="0">
                <a:solidFill>
                  <a:srgbClr val="14212B"/>
                </a:solidFill>
                <a:latin typeface="Cambria"/>
              </a:rPr>
              <a:t>Risk vs return map</a:t>
            </a:r>
          </a:p>
        </p:txBody>
      </p:sp>
      <p:graphicFrame>
        <p:nvGraphicFramePr>
          <p:cNvPr id="4" name="Chart 3"/>
          <p:cNvGraphicFramePr>
            <a:graphicFrameLocks noGrp="1"/>
          </p:cNvGraphicFramePr>
          <p:nvPr/>
        </p:nvGraphicFramePr>
        <p:xfrm>
          <a:off x="548640" y="1325880"/>
          <a:ext cx="7589520" cy="4937760"/>
        </p:xfrm>
        <a:graphic>
          <a:graphicData uri="http://schemas.openxmlformats.org/drawingml/2006/chart">
            <c:chart xmlns:c="http://schemas.openxmlformats.org/drawingml/2006/chart" r:id="rId2"/>
          </a:graphicData>
        </a:graphic>
      </p:graphicFrame>
      <p:sp>
        <p:nvSpPr>
          <p:cNvPr id="5" name="Rounded Rectangle 4"/>
          <p:cNvSpPr/>
          <p:nvPr/>
        </p:nvSpPr>
        <p:spPr>
          <a:xfrm>
            <a:off x="8503920" y="1325880"/>
            <a:ext cx="3136392" cy="493776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32520" y="1508760"/>
            <a:ext cx="2743200" cy="4572000"/>
          </a:xfrm>
          <a:prstGeom prst="rect">
            <a:avLst/>
          </a:prstGeom>
          <a:noFill/>
        </p:spPr>
        <p:txBody>
          <a:bodyPr wrap="square" anchor="t" lIns="0" rIns="0" tIns="0" bIns="0">
            <a:spAutoFit/>
          </a:bodyPr>
          <a:lstStyle/>
          <a:p>
            <a:pPr algn="l">
              <a:spcAft>
                <a:spcPts val="600"/>
              </a:spcAft>
            </a:pPr>
            <a:r>
              <a:rPr sz="1500" b="1" i="0">
                <a:solidFill>
                  <a:srgbClr val="14212B"/>
                </a:solidFill>
                <a:latin typeface="Cambria"/>
              </a:rPr>
              <a:t>Reading the map</a:t>
            </a:r>
          </a:p>
          <a:p>
            <a:pPr algn="l">
              <a:spcAft>
                <a:spcPts val="600"/>
              </a:spcAft>
            </a:pPr>
            <a:r>
              <a:rPr sz="1200" b="0" i="0">
                <a:solidFill>
                  <a:srgbClr val="14212B"/>
                </a:solidFill>
                <a:latin typeface="Calibri"/>
              </a:rPr>
              <a:t>Right = bigger price swings. Up = better 1-year return.</a:t>
            </a:r>
          </a:p>
          <a:p>
            <a:pPr algn="l">
              <a:spcAft>
                <a:spcPts val="600"/>
              </a:spcAft>
            </a:pPr>
            <a:r>
              <a:rPr sz="1200" b="0" i="0">
                <a:solidFill>
                  <a:srgbClr val="14212B"/>
                </a:solidFill>
                <a:latin typeface="Calibri"/>
              </a:rPr>
              <a:t>The ideal is top-left: good returns with small swings.</a:t>
            </a:r>
          </a:p>
          <a:p>
            <a:pPr algn="l">
              <a:spcAft>
                <a:spcPts val="600"/>
              </a:spcAft>
            </a:pPr>
            <a:r>
              <a:rPr sz="1200" b="1" i="0">
                <a:solidFill>
                  <a:srgbClr val="14212B"/>
                </a:solidFill>
                <a:latin typeface="Calibri"/>
              </a:rPr>
              <a:t>Best return per risk: </a:t>
            </a:r>
            <a:r>
              <a:rPr sz="1200" b="0" i="0">
                <a:solidFill>
                  <a:srgbClr val="14212B"/>
                </a:solidFill>
                <a:latin typeface="Calibri"/>
              </a:rPr>
              <a:t>Genfit (+171% for 60% volatility)</a:t>
            </a:r>
          </a:p>
          <a:p>
            <a:pPr algn="l">
              <a:spcAft>
                <a:spcPts val="600"/>
              </a:spcAft>
            </a:pPr>
            <a:r>
              <a:rPr sz="1200" b="1" i="0">
                <a:solidFill>
                  <a:srgbClr val="14212B"/>
                </a:solidFill>
                <a:latin typeface="Calibri"/>
              </a:rPr>
              <a:t>Weakest year: </a:t>
            </a:r>
            <a:r>
              <a:rPr sz="1200" b="0" i="0">
                <a:solidFill>
                  <a:srgbClr val="14212B"/>
                </a:solidFill>
                <a:latin typeface="Calibri"/>
              </a:rPr>
              <a:t>Worldline (-66%)</a:t>
            </a:r>
          </a:p>
          <a:p>
            <a:pPr algn="l"/>
            <a:r>
              <a:rPr sz="1200" b="1" i="0">
                <a:solidFill>
                  <a:srgbClr val="14212B"/>
                </a:solidFill>
                <a:latin typeface="Calibri"/>
              </a:rPr>
              <a:t>CAC 40 over 1 year: </a:t>
            </a:r>
            <a:r>
              <a:rPr sz="1200" b="0" i="0">
                <a:solidFill>
                  <a:srgbClr val="14212B"/>
                </a:solidFill>
                <a:latin typeface="Calibri"/>
              </a:rPr>
              <a:t>-1%</a:t>
            </a:r>
          </a:p>
        </p:txBody>
      </p:sp>
      <p:sp>
        <p:nvSpPr>
          <p:cNvPr id="7" name="TextBox 6"/>
          <p:cNvSpPr txBox="1"/>
          <p:nvPr/>
        </p:nvSpPr>
        <p:spPr>
          <a:xfrm>
            <a:off x="548640" y="6400800"/>
            <a:ext cx="11064240" cy="274320"/>
          </a:xfrm>
          <a:prstGeom prst="rect">
            <a:avLst/>
          </a:prstGeom>
          <a:noFill/>
        </p:spPr>
        <p:txBody>
          <a:bodyPr wrap="square" anchor="t" lIns="0" rIns="0" tIns="0" bIns="0">
            <a:spAutoFit/>
          </a:bodyPr>
          <a:lstStyle/>
          <a:p>
            <a:pPr algn="l"/>
            <a:r>
              <a:rPr sz="900" b="0" i="0">
                <a:solidFill>
                  <a:srgbClr val="5B6770"/>
                </a:solidFill>
                <a:latin typeface="Calibri"/>
              </a:rPr>
              <a:t>Each dot is one stock. Gold dots are this report's long-term top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anchor="t" lIns="0" rIns="0" tIns="0" bIns="0">
            <a:spAutoFit/>
          </a:bodyPr>
          <a:lstStyle/>
          <a:p>
            <a:pPr algn="l"/>
            <a:r>
              <a:rPr sz="1100" b="1" i="0">
                <a:solidFill>
                  <a:srgbClr val="D99A1E"/>
                </a:solidFill>
                <a:latin typeface="Calibri"/>
              </a:rPr>
              <a:t>METHOD</a:t>
            </a:r>
          </a:p>
        </p:txBody>
      </p:sp>
      <p:sp>
        <p:nvSpPr>
          <p:cNvPr id="3" name="TextBox 2"/>
          <p:cNvSpPr txBox="1"/>
          <p:nvPr/>
        </p:nvSpPr>
        <p:spPr>
          <a:xfrm>
            <a:off x="548640" y="566928"/>
            <a:ext cx="11064240" cy="640080"/>
          </a:xfrm>
          <a:prstGeom prst="rect">
            <a:avLst/>
          </a:prstGeom>
          <a:noFill/>
        </p:spPr>
        <p:txBody>
          <a:bodyPr wrap="square" anchor="t" lIns="0" rIns="0" tIns="0" bIns="0">
            <a:spAutoFit/>
          </a:bodyPr>
          <a:lstStyle/>
          <a:p>
            <a:pPr algn="l"/>
            <a:r>
              <a:rPr sz="3000" b="1" i="0">
                <a:solidFill>
                  <a:srgbClr val="14212B"/>
                </a:solidFill>
                <a:latin typeface="Cambria"/>
              </a:rPr>
              <a:t>How it works, and how good it is</a:t>
            </a:r>
          </a:p>
        </p:txBody>
      </p:sp>
      <p:sp>
        <p:nvSpPr>
          <p:cNvPr id="4" name="Rounded Rectangle 3"/>
          <p:cNvSpPr/>
          <p:nvPr/>
        </p:nvSpPr>
        <p:spPr>
          <a:xfrm>
            <a:off x="548640" y="1371600"/>
            <a:ext cx="2084831" cy="173736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554480"/>
            <a:ext cx="457200" cy="457200"/>
          </a:xfrm>
          <a:prstGeom prst="ellipse">
            <a:avLst/>
          </a:prstGeom>
          <a:solidFill>
            <a:srgbClr val="142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457200" cy="457200"/>
          </a:xfrm>
          <a:prstGeom prst="rect">
            <a:avLst/>
          </a:prstGeom>
          <a:noFill/>
        </p:spPr>
        <p:txBody>
          <a:bodyPr wrap="square" anchor="ctr" lIns="0" rIns="0" tIns="0" bIns="0">
            <a:spAutoFit/>
          </a:bodyPr>
          <a:lstStyle/>
          <a:p>
            <a:pPr algn="ctr"/>
            <a:r>
              <a:rPr sz="1400" b="1" i="0">
                <a:solidFill>
                  <a:srgbClr val="FFFFFF"/>
                </a:solidFill>
                <a:latin typeface="Calibri"/>
              </a:rPr>
              <a:t>1</a:t>
            </a:r>
          </a:p>
        </p:txBody>
      </p:sp>
      <p:sp>
        <p:nvSpPr>
          <p:cNvPr id="7" name="TextBox 6"/>
          <p:cNvSpPr txBox="1"/>
          <p:nvPr/>
        </p:nvSpPr>
        <p:spPr>
          <a:xfrm>
            <a:off x="1325880" y="1600200"/>
            <a:ext cx="1234440" cy="365760"/>
          </a:xfrm>
          <a:prstGeom prst="rect">
            <a:avLst/>
          </a:prstGeom>
          <a:noFill/>
        </p:spPr>
        <p:txBody>
          <a:bodyPr wrap="square" anchor="t" lIns="0" rIns="0" tIns="0" bIns="0">
            <a:spAutoFit/>
          </a:bodyPr>
          <a:lstStyle/>
          <a:p>
            <a:pPr algn="l"/>
            <a:r>
              <a:rPr sz="1500" b="1" i="0">
                <a:solidFill>
                  <a:srgbClr val="14212B"/>
                </a:solidFill>
                <a:latin typeface="Cambria"/>
              </a:rPr>
              <a:t>Prices</a:t>
            </a:r>
          </a:p>
        </p:txBody>
      </p:sp>
      <p:sp>
        <p:nvSpPr>
          <p:cNvPr id="8" name="TextBox 7"/>
          <p:cNvSpPr txBox="1"/>
          <p:nvPr/>
        </p:nvSpPr>
        <p:spPr>
          <a:xfrm>
            <a:off x="731520" y="2194560"/>
            <a:ext cx="1737360" cy="868680"/>
          </a:xfrm>
          <a:prstGeom prst="rect">
            <a:avLst/>
          </a:prstGeom>
          <a:noFill/>
        </p:spPr>
        <p:txBody>
          <a:bodyPr wrap="square" anchor="t" lIns="0" rIns="0" tIns="0" bIns="0">
            <a:spAutoFit/>
          </a:bodyPr>
          <a:lstStyle/>
          <a:p>
            <a:pPr algn="l"/>
            <a:r>
              <a:rPr sz="1150" b="0" i="0">
                <a:solidFill>
                  <a:srgbClr val="5B6770"/>
                </a:solidFill>
                <a:latin typeface="Calibri"/>
              </a:rPr>
              <a:t>712 Paris stocks, filtered to the most traded</a:t>
            </a:r>
          </a:p>
        </p:txBody>
      </p:sp>
      <p:sp>
        <p:nvSpPr>
          <p:cNvPr id="9" name="Rounded Rectangle 8"/>
          <p:cNvSpPr/>
          <p:nvPr/>
        </p:nvSpPr>
        <p:spPr>
          <a:xfrm>
            <a:off x="2816352" y="1371600"/>
            <a:ext cx="2084831" cy="173736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99232" y="1554480"/>
            <a:ext cx="457200" cy="457200"/>
          </a:xfrm>
          <a:prstGeom prst="ellipse">
            <a:avLst/>
          </a:prstGeom>
          <a:solidFill>
            <a:srgbClr val="142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9232" y="1554480"/>
            <a:ext cx="457200" cy="457200"/>
          </a:xfrm>
          <a:prstGeom prst="rect">
            <a:avLst/>
          </a:prstGeom>
          <a:noFill/>
        </p:spPr>
        <p:txBody>
          <a:bodyPr wrap="square" anchor="ctr" lIns="0" rIns="0" tIns="0" bIns="0">
            <a:spAutoFit/>
          </a:bodyPr>
          <a:lstStyle/>
          <a:p>
            <a:pPr algn="ctr"/>
            <a:r>
              <a:rPr sz="1400" b="1" i="0">
                <a:solidFill>
                  <a:srgbClr val="FFFFFF"/>
                </a:solidFill>
                <a:latin typeface="Calibri"/>
              </a:rPr>
              <a:t>2</a:t>
            </a:r>
          </a:p>
        </p:txBody>
      </p:sp>
      <p:sp>
        <p:nvSpPr>
          <p:cNvPr id="12" name="TextBox 11"/>
          <p:cNvSpPr txBox="1"/>
          <p:nvPr/>
        </p:nvSpPr>
        <p:spPr>
          <a:xfrm>
            <a:off x="3593592" y="1600200"/>
            <a:ext cx="1234440" cy="365760"/>
          </a:xfrm>
          <a:prstGeom prst="rect">
            <a:avLst/>
          </a:prstGeom>
          <a:noFill/>
        </p:spPr>
        <p:txBody>
          <a:bodyPr wrap="square" anchor="t" lIns="0" rIns="0" tIns="0" bIns="0">
            <a:spAutoFit/>
          </a:bodyPr>
          <a:lstStyle/>
          <a:p>
            <a:pPr algn="l"/>
            <a:r>
              <a:rPr sz="1500" b="1" i="0">
                <a:solidFill>
                  <a:srgbClr val="14212B"/>
                </a:solidFill>
                <a:latin typeface="Cambria"/>
              </a:rPr>
              <a:t>News</a:t>
            </a:r>
          </a:p>
        </p:txBody>
      </p:sp>
      <p:sp>
        <p:nvSpPr>
          <p:cNvPr id="13" name="TextBox 12"/>
          <p:cNvSpPr txBox="1"/>
          <p:nvPr/>
        </p:nvSpPr>
        <p:spPr>
          <a:xfrm>
            <a:off x="2999232" y="2194560"/>
            <a:ext cx="1737360" cy="868680"/>
          </a:xfrm>
          <a:prstGeom prst="rect">
            <a:avLst/>
          </a:prstGeom>
          <a:noFill/>
        </p:spPr>
        <p:txBody>
          <a:bodyPr wrap="square" anchor="t" lIns="0" rIns="0" tIns="0" bIns="0">
            <a:spAutoFit/>
          </a:bodyPr>
          <a:lstStyle/>
          <a:p>
            <a:pPr algn="l"/>
            <a:r>
              <a:rPr sz="1150" b="0" i="0">
                <a:solidFill>
                  <a:srgbClr val="5B6770"/>
                </a:solidFill>
                <a:latin typeface="Calibri"/>
              </a:rPr>
              <a:t>Google News France, noise filtered</a:t>
            </a:r>
          </a:p>
        </p:txBody>
      </p:sp>
      <p:sp>
        <p:nvSpPr>
          <p:cNvPr id="14" name="Rounded Rectangle 13"/>
          <p:cNvSpPr/>
          <p:nvPr/>
        </p:nvSpPr>
        <p:spPr>
          <a:xfrm>
            <a:off x="5084064" y="1371600"/>
            <a:ext cx="2084831" cy="173736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266944" y="1554480"/>
            <a:ext cx="457200" cy="457200"/>
          </a:xfrm>
          <a:prstGeom prst="ellipse">
            <a:avLst/>
          </a:prstGeom>
          <a:solidFill>
            <a:srgbClr val="142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66944" y="1554480"/>
            <a:ext cx="457200" cy="457200"/>
          </a:xfrm>
          <a:prstGeom prst="rect">
            <a:avLst/>
          </a:prstGeom>
          <a:noFill/>
        </p:spPr>
        <p:txBody>
          <a:bodyPr wrap="square" anchor="ctr" lIns="0" rIns="0" tIns="0" bIns="0">
            <a:spAutoFit/>
          </a:bodyPr>
          <a:lstStyle/>
          <a:p>
            <a:pPr algn="ctr"/>
            <a:r>
              <a:rPr sz="1400" b="1" i="0">
                <a:solidFill>
                  <a:srgbClr val="FFFFFF"/>
                </a:solidFill>
                <a:latin typeface="Calibri"/>
              </a:rPr>
              <a:t>3</a:t>
            </a:r>
          </a:p>
        </p:txBody>
      </p:sp>
      <p:sp>
        <p:nvSpPr>
          <p:cNvPr id="17" name="TextBox 16"/>
          <p:cNvSpPr txBox="1"/>
          <p:nvPr/>
        </p:nvSpPr>
        <p:spPr>
          <a:xfrm>
            <a:off x="5861303" y="1600200"/>
            <a:ext cx="1234440" cy="365760"/>
          </a:xfrm>
          <a:prstGeom prst="rect">
            <a:avLst/>
          </a:prstGeom>
          <a:noFill/>
        </p:spPr>
        <p:txBody>
          <a:bodyPr wrap="square" anchor="t" lIns="0" rIns="0" tIns="0" bIns="0">
            <a:spAutoFit/>
          </a:bodyPr>
          <a:lstStyle/>
          <a:p>
            <a:pPr algn="l"/>
            <a:r>
              <a:rPr sz="1500" b="1" i="0">
                <a:solidFill>
                  <a:srgbClr val="14212B"/>
                </a:solidFill>
                <a:latin typeface="Cambria"/>
              </a:rPr>
              <a:t>Local AI</a:t>
            </a:r>
          </a:p>
        </p:txBody>
      </p:sp>
      <p:sp>
        <p:nvSpPr>
          <p:cNvPr id="18" name="TextBox 17"/>
          <p:cNvSpPr txBox="1"/>
          <p:nvPr/>
        </p:nvSpPr>
        <p:spPr>
          <a:xfrm>
            <a:off x="5266944" y="2194560"/>
            <a:ext cx="1737360" cy="868680"/>
          </a:xfrm>
          <a:prstGeom prst="rect">
            <a:avLst/>
          </a:prstGeom>
          <a:noFill/>
        </p:spPr>
        <p:txBody>
          <a:bodyPr wrap="square" anchor="t" lIns="0" rIns="0" tIns="0" bIns="0">
            <a:spAutoFit/>
          </a:bodyPr>
          <a:lstStyle/>
          <a:p>
            <a:pPr algn="l"/>
            <a:r>
              <a:rPr sz="1150" b="0" i="0">
                <a:solidFill>
                  <a:srgbClr val="5B6770"/>
                </a:solidFill>
                <a:latin typeface="Calibri"/>
              </a:rPr>
              <a:t>Mistral scores company and world news</a:t>
            </a:r>
          </a:p>
        </p:txBody>
      </p:sp>
      <p:sp>
        <p:nvSpPr>
          <p:cNvPr id="19" name="Rounded Rectangle 18"/>
          <p:cNvSpPr/>
          <p:nvPr/>
        </p:nvSpPr>
        <p:spPr>
          <a:xfrm>
            <a:off x="7351775" y="1371600"/>
            <a:ext cx="2084831" cy="173736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34655" y="1554480"/>
            <a:ext cx="457200" cy="457200"/>
          </a:xfrm>
          <a:prstGeom prst="ellipse">
            <a:avLst/>
          </a:prstGeom>
          <a:solidFill>
            <a:srgbClr val="142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5" y="1554480"/>
            <a:ext cx="457200" cy="457200"/>
          </a:xfrm>
          <a:prstGeom prst="rect">
            <a:avLst/>
          </a:prstGeom>
          <a:noFill/>
        </p:spPr>
        <p:txBody>
          <a:bodyPr wrap="square" anchor="ctr" lIns="0" rIns="0" tIns="0" bIns="0">
            <a:spAutoFit/>
          </a:bodyPr>
          <a:lstStyle/>
          <a:p>
            <a:pPr algn="ctr"/>
            <a:r>
              <a:rPr sz="1400" b="1" i="0">
                <a:solidFill>
                  <a:srgbClr val="FFFFFF"/>
                </a:solidFill>
                <a:latin typeface="Calibri"/>
              </a:rPr>
              <a:t>4</a:t>
            </a:r>
          </a:p>
        </p:txBody>
      </p:sp>
      <p:sp>
        <p:nvSpPr>
          <p:cNvPr id="22" name="TextBox 21"/>
          <p:cNvSpPr txBox="1"/>
          <p:nvPr/>
        </p:nvSpPr>
        <p:spPr>
          <a:xfrm>
            <a:off x="8129015" y="1600200"/>
            <a:ext cx="1234440" cy="365760"/>
          </a:xfrm>
          <a:prstGeom prst="rect">
            <a:avLst/>
          </a:prstGeom>
          <a:noFill/>
        </p:spPr>
        <p:txBody>
          <a:bodyPr wrap="square" anchor="t" lIns="0" rIns="0" tIns="0" bIns="0">
            <a:spAutoFit/>
          </a:bodyPr>
          <a:lstStyle/>
          <a:p>
            <a:pPr algn="l"/>
            <a:r>
              <a:rPr sz="1500" b="1" i="0">
                <a:solidFill>
                  <a:srgbClr val="14212B"/>
                </a:solidFill>
                <a:latin typeface="Cambria"/>
              </a:rPr>
              <a:t>Model</a:t>
            </a:r>
          </a:p>
        </p:txBody>
      </p:sp>
      <p:sp>
        <p:nvSpPr>
          <p:cNvPr id="23" name="TextBox 22"/>
          <p:cNvSpPr txBox="1"/>
          <p:nvPr/>
        </p:nvSpPr>
        <p:spPr>
          <a:xfrm>
            <a:off x="7534655" y="2194560"/>
            <a:ext cx="1737360" cy="868680"/>
          </a:xfrm>
          <a:prstGeom prst="rect">
            <a:avLst/>
          </a:prstGeom>
          <a:noFill/>
        </p:spPr>
        <p:txBody>
          <a:bodyPr wrap="square" anchor="t" lIns="0" rIns="0" tIns="0" bIns="0">
            <a:spAutoFit/>
          </a:bodyPr>
          <a:lstStyle/>
          <a:p>
            <a:pPr algn="l"/>
            <a:r>
              <a:rPr sz="1150" b="0" i="0">
                <a:solidFill>
                  <a:srgbClr val="5B6770"/>
                </a:solidFill>
                <a:latin typeface="Calibri"/>
              </a:rPr>
              <a:t>Gradient boosting ranks stocks for 5 days</a:t>
            </a:r>
          </a:p>
        </p:txBody>
      </p:sp>
      <p:sp>
        <p:nvSpPr>
          <p:cNvPr id="24" name="Rounded Rectangle 23"/>
          <p:cNvSpPr/>
          <p:nvPr/>
        </p:nvSpPr>
        <p:spPr>
          <a:xfrm>
            <a:off x="9619488" y="1371600"/>
            <a:ext cx="2084831" cy="173736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802367" y="1554480"/>
            <a:ext cx="457200" cy="457200"/>
          </a:xfrm>
          <a:prstGeom prst="ellipse">
            <a:avLst/>
          </a:prstGeom>
          <a:solidFill>
            <a:srgbClr val="142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02367" y="1554480"/>
            <a:ext cx="457200" cy="457200"/>
          </a:xfrm>
          <a:prstGeom prst="rect">
            <a:avLst/>
          </a:prstGeom>
          <a:noFill/>
        </p:spPr>
        <p:txBody>
          <a:bodyPr wrap="square" anchor="ctr" lIns="0" rIns="0" tIns="0" bIns="0">
            <a:spAutoFit/>
          </a:bodyPr>
          <a:lstStyle/>
          <a:p>
            <a:pPr algn="ctr"/>
            <a:r>
              <a:rPr sz="1400" b="1" i="0">
                <a:solidFill>
                  <a:srgbClr val="FFFFFF"/>
                </a:solidFill>
                <a:latin typeface="Calibri"/>
              </a:rPr>
              <a:t>5</a:t>
            </a:r>
          </a:p>
        </p:txBody>
      </p:sp>
      <p:sp>
        <p:nvSpPr>
          <p:cNvPr id="27" name="TextBox 26"/>
          <p:cNvSpPr txBox="1"/>
          <p:nvPr/>
        </p:nvSpPr>
        <p:spPr>
          <a:xfrm>
            <a:off x="10396728" y="1600200"/>
            <a:ext cx="1234440" cy="365760"/>
          </a:xfrm>
          <a:prstGeom prst="rect">
            <a:avLst/>
          </a:prstGeom>
          <a:noFill/>
        </p:spPr>
        <p:txBody>
          <a:bodyPr wrap="square" anchor="t" lIns="0" rIns="0" tIns="0" bIns="0">
            <a:spAutoFit/>
          </a:bodyPr>
          <a:lstStyle/>
          <a:p>
            <a:pPr algn="l"/>
            <a:r>
              <a:rPr sz="1500" b="1" i="0">
                <a:solidFill>
                  <a:srgbClr val="14212B"/>
                </a:solidFill>
                <a:latin typeface="Cambria"/>
              </a:rPr>
              <a:t>Report</a:t>
            </a:r>
          </a:p>
        </p:txBody>
      </p:sp>
      <p:sp>
        <p:nvSpPr>
          <p:cNvPr id="28" name="TextBox 27"/>
          <p:cNvSpPr txBox="1"/>
          <p:nvPr/>
        </p:nvSpPr>
        <p:spPr>
          <a:xfrm>
            <a:off x="9802367" y="2194560"/>
            <a:ext cx="1737360" cy="868680"/>
          </a:xfrm>
          <a:prstGeom prst="rect">
            <a:avLst/>
          </a:prstGeom>
          <a:noFill/>
        </p:spPr>
        <p:txBody>
          <a:bodyPr wrap="square" anchor="t" lIns="0" rIns="0" tIns="0" bIns="0">
            <a:spAutoFit/>
          </a:bodyPr>
          <a:lstStyle/>
          <a:p>
            <a:pPr algn="l"/>
            <a:r>
              <a:rPr sz="1150" b="0" i="0">
                <a:solidFill>
                  <a:srgbClr val="5B6770"/>
                </a:solidFill>
                <a:latin typeface="Calibri"/>
              </a:rPr>
              <a:t>Rankings, risk metrics, this deck</a:t>
            </a:r>
          </a:p>
        </p:txBody>
      </p:sp>
      <p:sp>
        <p:nvSpPr>
          <p:cNvPr id="29" name="TextBox 28"/>
          <p:cNvSpPr txBox="1"/>
          <p:nvPr/>
        </p:nvSpPr>
        <p:spPr>
          <a:xfrm>
            <a:off x="548640" y="3474720"/>
            <a:ext cx="6949440" cy="2743200"/>
          </a:xfrm>
          <a:prstGeom prst="rect">
            <a:avLst/>
          </a:prstGeom>
          <a:noFill/>
        </p:spPr>
        <p:txBody>
          <a:bodyPr wrap="square" anchor="t" lIns="0" rIns="0" tIns="0" bIns="0">
            <a:spAutoFit/>
          </a:bodyPr>
          <a:lstStyle/>
          <a:p>
            <a:pPr algn="l">
              <a:spcAft>
                <a:spcPts val="600"/>
              </a:spcAft>
            </a:pPr>
            <a:r>
              <a:rPr sz="1500" b="1" i="0">
                <a:solidFill>
                  <a:srgbClr val="14212B"/>
                </a:solidFill>
                <a:latin typeface="Cambria"/>
              </a:rPr>
              <a:t>Honest test on unseen data </a:t>
            </a:r>
            <a:r>
              <a:rPr sz="1300" b="0" i="0">
                <a:solidFill>
                  <a:srgbClr val="5B6770"/>
                </a:solidFill>
                <a:latin typeface="Calibri"/>
              </a:rPr>
              <a:t>(2026-03-26 to 2026-09-25)</a:t>
            </a:r>
          </a:p>
          <a:p>
            <a:pPr algn="l">
              <a:spcAft>
                <a:spcPts val="600"/>
              </a:spcAft>
            </a:pPr>
            <a:r>
              <a:rPr sz="1300" b="0" i="0">
                <a:solidFill>
                  <a:srgbClr val="14212B"/>
                </a:solidFill>
                <a:latin typeface="Calibri"/>
              </a:rPr>
              <a:t>Accuracy 50.8% vs 50.7% by always guessing the same answer.</a:t>
            </a:r>
          </a:p>
          <a:p>
            <a:pPr algn="l">
              <a:spcAft>
                <a:spcPts val="600"/>
              </a:spcAft>
            </a:pPr>
            <a:r>
              <a:rPr sz="1300" b="0" i="0">
                <a:solidFill>
                  <a:srgbClr val="14212B"/>
                </a:solidFill>
                <a:latin typeface="Calibri"/>
              </a:rPr>
              <a:t>AUC 0.507 (0.500 = no skill). Top-10 picks: +0.56% vs CAC 40 per 5 days; bottom-10: -0.03%.</a:t>
            </a:r>
          </a:p>
          <a:p>
            <a:pPr algn="l"/>
            <a:r>
              <a:rPr sz="1300" b="0" i="0">
                <a:solidFill>
                  <a:srgbClr val="14212B"/>
                </a:solidFill>
                <a:latin typeface="Calibri"/>
              </a:rPr>
              <a:t>News sentiment is not in the model yet: it is added after 20 days of history.</a:t>
            </a:r>
          </a:p>
        </p:txBody>
      </p:sp>
      <p:sp>
        <p:nvSpPr>
          <p:cNvPr id="30" name="Rounded Rectangle 29"/>
          <p:cNvSpPr/>
          <p:nvPr/>
        </p:nvSpPr>
        <p:spPr>
          <a:xfrm>
            <a:off x="7863840" y="3474720"/>
            <a:ext cx="3776472" cy="2697480"/>
          </a:xfrm>
          <a:prstGeom prst="roundRect">
            <a:avLst>
              <a:gd name="adj" fmla="val 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92440" y="3657600"/>
            <a:ext cx="3383280" cy="2468880"/>
          </a:xfrm>
          <a:prstGeom prst="rect">
            <a:avLst/>
          </a:prstGeom>
          <a:noFill/>
        </p:spPr>
        <p:txBody>
          <a:bodyPr wrap="square" anchor="t" lIns="0" rIns="0" tIns="0" bIns="0">
            <a:spAutoFit/>
          </a:bodyPr>
          <a:lstStyle/>
          <a:p>
            <a:pPr algn="l">
              <a:spcAft>
                <a:spcPts val="600"/>
              </a:spcAft>
            </a:pPr>
            <a:r>
              <a:rPr sz="1500" b="1" i="0">
                <a:solidFill>
                  <a:srgbClr val="C8423B"/>
                </a:solidFill>
                <a:latin typeface="Cambria"/>
              </a:rPr>
              <a:t>Important</a:t>
            </a:r>
          </a:p>
          <a:p>
            <a:pPr algn="l">
              <a:spcAft>
                <a:spcPts val="600"/>
              </a:spcAft>
            </a:pPr>
            <a:r>
              <a:rPr sz="1200" b="0" i="0">
                <a:solidFill>
                  <a:srgbClr val="14212B"/>
                </a:solidFill>
                <a:latin typeface="Calibri"/>
              </a:rPr>
              <a:t>Markets are hard to predict; this model's edge is small and may be luck.</a:t>
            </a:r>
          </a:p>
          <a:p>
            <a:pPr algn="l">
              <a:spcAft>
                <a:spcPts val="600"/>
              </a:spcAft>
            </a:pPr>
            <a:r>
              <a:rPr sz="1200" b="0" i="0">
                <a:solidFill>
                  <a:srgbClr val="14212B"/>
                </a:solidFill>
                <a:latin typeface="Calibri"/>
              </a:rPr>
              <a:t>Past returns do not guarantee future results.</a:t>
            </a:r>
          </a:p>
          <a:p>
            <a:pPr algn="l"/>
            <a:r>
              <a:rPr sz="1200" b="0" i="0">
                <a:solidFill>
                  <a:srgbClr val="14212B"/>
                </a:solidFill>
                <a:latin typeface="Calibri"/>
              </a:rPr>
              <a:t>Experimental portfolio project, not financial advice.</a:t>
            </a:r>
          </a:p>
        </p:txBody>
      </p:sp>
      <p:sp>
        <p:nvSpPr>
          <p:cNvPr id="32" name="TextBox 31"/>
          <p:cNvSpPr txBox="1"/>
          <p:nvPr/>
        </p:nvSpPr>
        <p:spPr>
          <a:xfrm>
            <a:off x="548640" y="6400800"/>
            <a:ext cx="11064240" cy="274320"/>
          </a:xfrm>
          <a:prstGeom prst="rect">
            <a:avLst/>
          </a:prstGeom>
          <a:noFill/>
        </p:spPr>
        <p:txBody>
          <a:bodyPr wrap="square" anchor="t" lIns="0" rIns="0" tIns="0" bIns="0">
            <a:spAutoFit/>
          </a:bodyPr>
          <a:lstStyle/>
          <a:p>
            <a:pPr algn="l"/>
            <a:r>
              <a:rPr sz="900" b="0" i="0">
                <a:solidFill>
                  <a:srgbClr val="5B6770"/>
                </a:solidFill>
                <a:latin typeface="Calibri"/>
              </a:rPr>
              <a:t>Built by Gaurav Sharma with Python, Ollama (Mistral), scikit-learn and python-pptx. Generated 02 Oct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